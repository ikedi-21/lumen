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Earnings (coins)</c:v>
                </c:pt>
              </c:strCache>
            </c:strRef>
          </c:tx>
          <c:spPr>
            <a:solidFill>
              <a:srgbClr val="F2B705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680</c:v>
                </c:pt>
                <c:pt idx="2">
                  <c:v>540</c:v>
                </c:pt>
                <c:pt idx="3">
                  <c:v>900</c:v>
                </c:pt>
                <c:pt idx="4">
                  <c:v>760</c:v>
                </c:pt>
                <c:pt idx="5">
                  <c:v>1120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2B2E5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A9DC4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2B2E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2B2E5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A9DC4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C1E3C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25ce6c0-79d0-43bf-a634-cb38229b4521}"/>
      </c:ext>
    </c:extLst>
  </c:chart>
  <c:spPr>
    <a:solidFill>
      <a:srgbClr val="1C1E3C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5.png"/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7.png"/><Relationship Id="rId7" Type="http://schemas.openxmlformats.org/officeDocument/2006/relationships/image" Target="../media/image12.png"/><Relationship Id="rId6" Type="http://schemas.openxmlformats.org/officeDocument/2006/relationships/image" Target="../media/image23.png"/><Relationship Id="rId5" Type="http://schemas.openxmlformats.org/officeDocument/2006/relationships/image" Target="../media/image9.png"/><Relationship Id="rId4" Type="http://schemas.openxmlformats.org/officeDocument/2006/relationships/image" Target="../media/image1.png"/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3" Type="http://schemas.openxmlformats.org/officeDocument/2006/relationships/notesSlide" Target="../notesSlides/notesSlide16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6.png"/><Relationship Id="rId10" Type="http://schemas.openxmlformats.org/officeDocument/2006/relationships/image" Target="../media/image18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7.png"/><Relationship Id="rId6" Type="http://schemas.openxmlformats.org/officeDocument/2006/relationships/image" Target="../media/image23.png"/><Relationship Id="rId5" Type="http://schemas.openxmlformats.org/officeDocument/2006/relationships/image" Target="../media/image25.png"/><Relationship Id="rId4" Type="http://schemas.openxmlformats.org/officeDocument/2006/relationships/image" Target="../media/image15.png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26.png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7315200" cy="7315200"/>
          </a:xfrm>
          <a:prstGeom prst="ellipse">
            <a:avLst/>
          </a:prstGeom>
          <a:solidFill>
            <a:srgbClr val="F2B705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286000" y="4206240"/>
            <a:ext cx="6400800" cy="6400800"/>
          </a:xfrm>
          <a:prstGeom prst="ellipse">
            <a:avLst/>
          </a:prstGeom>
          <a:solidFill>
            <a:srgbClr val="3A3F8F">
              <a:alpha val="1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9052560" y="5074920"/>
            <a:ext cx="658368" cy="1234440"/>
          </a:xfrm>
          <a:prstGeom prst="roundRect">
            <a:avLst>
              <a:gd name="adj" fmla="val 8333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5394960"/>
            <a:ext cx="658368" cy="1234440"/>
          </a:xfrm>
          <a:prstGeom prst="roundRect">
            <a:avLst>
              <a:gd name="adj" fmla="val 8333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5074920"/>
            <a:ext cx="658368" cy="1234440"/>
          </a:xfrm>
          <a:prstGeom prst="roundRect">
            <a:avLst>
              <a:gd name="adj" fmla="val 8333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84280" y="5394960"/>
            <a:ext cx="658368" cy="1234440"/>
          </a:xfrm>
          <a:prstGeom prst="roundRect">
            <a:avLst>
              <a:gd name="adj" fmla="val 8333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9" name="Image 0" descr="/home/claude/lumen/icons/fil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91" y="702991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331720"/>
            <a:ext cx="9601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300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 U M E N</a:t>
            </a:r>
            <a:endParaRPr lang="en-US" sz="6000" dirty="0"/>
          </a:p>
        </p:txBody>
      </p:sp>
      <p:sp>
        <p:nvSpPr>
          <p:cNvPr id="11" name="Shape 8"/>
          <p:cNvSpPr/>
          <p:nvPr/>
        </p:nvSpPr>
        <p:spPr>
          <a:xfrm>
            <a:off x="566928" y="3456432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1C1E3C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3456432"/>
            <a:ext cx="32461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DIGITAL MEDIA VAULT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6928" y="4069080"/>
            <a:ext cx="6949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full-stack React web application for premium media discovery, purchase &amp; management — movies, books, manga and comics in one storefront.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66928" y="598932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Final Project   </a:t>
            </a:r>
            <a:r>
              <a:rPr lang="en-US" sz="12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 React 19  ·  Vite  ·  Supabase  ·  Paystack  ·  Recharts  . Demo 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vault for every kind of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/ 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67665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is a multi-role digital media storefront where readers and viewers discover, buy and enjoy content — while creators run their catalog through a dedicated admin console.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770632"/>
            <a:ext cx="566928" cy="566928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9" name="Image 0" descr="/home/claude/lumen/icons/fil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906695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3447288"/>
            <a:ext cx="20848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Movies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4672" y="3813048"/>
            <a:ext cx="20848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 &amp; stream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91840" y="251460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47872" y="2770632"/>
            <a:ext cx="566928" cy="566928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4" name="Image 1" descr="/home/claude/lumen/icons/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935" y="2906695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47872" y="3447288"/>
            <a:ext cx="20848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Books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547872" y="3813048"/>
            <a:ext cx="20848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&amp; read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35040" y="251460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91072" y="2770632"/>
            <a:ext cx="566928" cy="566928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9" name="Image 2" descr="/home/claude/lumen/icons/man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135" y="2906695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91072" y="3447288"/>
            <a:ext cx="20848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Manga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291072" y="3813048"/>
            <a:ext cx="20848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778240" y="251460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34272" y="2770632"/>
            <a:ext cx="566928" cy="566928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4" name="Image 3" descr="/home/claude/lumen/icons/co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335" y="2906695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34272" y="3447288"/>
            <a:ext cx="20848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Comics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9034272" y="3813048"/>
            <a:ext cx="20848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68680" y="5029200"/>
            <a:ext cx="548640" cy="54864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9" name="Image 4" descr="/home/claude/lumen/icons/wal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4" y="5160874"/>
            <a:ext cx="285293" cy="28529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00200" y="5010912"/>
            <a:ext cx="7863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Coin-powered commerce.  </a:t>
            </a:r>
            <a:r>
              <a:rPr lang="en-US" sz="13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purchase content with an in-app coin currency; creators manage inventory, sales and payouts through a 3-tier Admin Console.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9738360" y="502920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738360" y="5029200"/>
            <a:ext cx="1737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Netflix + Amazon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Creator Studio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LUMEN exists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/ 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16152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1216152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LUMEN'S SOLUTION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349240" cy="786384"/>
          </a:xfrm>
          <a:prstGeom prst="roundRect">
            <a:avLst>
              <a:gd name="adj" fmla="val 1046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48463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Fragmented media platforms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349240" cy="786384"/>
          </a:xfrm>
          <a:prstGeom prst="roundRect">
            <a:avLst>
              <a:gd name="adj" fmla="val 10465"/>
            </a:avLst>
          </a:prstGeom>
          <a:solidFill>
            <a:srgbClr val="1C1E3C"/>
          </a:solidFill>
          <a:ln w="12700">
            <a:solidFill>
              <a:srgbClr val="3A3E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600200"/>
            <a:ext cx="48463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storefront for movies, books, manga &amp; comics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06440" y="1600200"/>
            <a:ext cx="5029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5349240" cy="786384"/>
          </a:xfrm>
          <a:prstGeom prst="roundRect">
            <a:avLst>
              <a:gd name="adj" fmla="val 1046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514600"/>
            <a:ext cx="48463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creator monetization tools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514600"/>
            <a:ext cx="5349240" cy="786384"/>
          </a:xfrm>
          <a:prstGeom prst="roundRect">
            <a:avLst>
              <a:gd name="adj" fmla="val 10465"/>
            </a:avLst>
          </a:prstGeom>
          <a:solidFill>
            <a:srgbClr val="1C1E3C"/>
          </a:solidFill>
          <a:ln w="12700">
            <a:solidFill>
              <a:srgbClr val="3A3E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514600"/>
            <a:ext cx="48463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panel with sales tracking &amp; payout requests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06440" y="2514600"/>
            <a:ext cx="5029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5349240" cy="786384"/>
          </a:xfrm>
          <a:prstGeom prst="roundRect">
            <a:avLst>
              <a:gd name="adj" fmla="val 1046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29000"/>
            <a:ext cx="48463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payment integration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429000"/>
            <a:ext cx="5349240" cy="786384"/>
          </a:xfrm>
          <a:prstGeom prst="roundRect">
            <a:avLst>
              <a:gd name="adj" fmla="val 10465"/>
            </a:avLst>
          </a:prstGeom>
          <a:solidFill>
            <a:srgbClr val="1C1E3C"/>
          </a:solidFill>
          <a:ln w="12700">
            <a:solidFill>
              <a:srgbClr val="3A3E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429000"/>
            <a:ext cx="48463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Seamless Paystack-powered coin purchases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6440" y="3429000"/>
            <a:ext cx="5029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5349240" cy="786384"/>
          </a:xfrm>
          <a:prstGeom prst="roundRect">
            <a:avLst>
              <a:gd name="adj" fmla="val 1046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343400"/>
            <a:ext cx="48463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role-based access control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4343400"/>
            <a:ext cx="5349240" cy="786384"/>
          </a:xfrm>
          <a:prstGeom prst="roundRect">
            <a:avLst>
              <a:gd name="adj" fmla="val 10465"/>
            </a:avLst>
          </a:prstGeom>
          <a:solidFill>
            <a:srgbClr val="1C1E3C"/>
          </a:solidFill>
          <a:ln w="12700">
            <a:solidFill>
              <a:srgbClr val="3A3E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343400"/>
            <a:ext cx="48463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3-tier role system: User → Staff → Manager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06440" y="4343400"/>
            <a:ext cx="5029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5349240" cy="786384"/>
          </a:xfrm>
          <a:prstGeom prst="roundRect">
            <a:avLst>
              <a:gd name="adj" fmla="val 1046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257800"/>
            <a:ext cx="48463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Poor reading/viewing experience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5257800"/>
            <a:ext cx="5349240" cy="786384"/>
          </a:xfrm>
          <a:prstGeom prst="roundRect">
            <a:avLst>
              <a:gd name="adj" fmla="val 10465"/>
            </a:avLst>
          </a:prstGeom>
          <a:solidFill>
            <a:srgbClr val="1C1E3C"/>
          </a:solidFill>
          <a:ln w="12700">
            <a:solidFill>
              <a:srgbClr val="3A3E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5257800"/>
            <a:ext cx="48463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In-app reader, video player &amp; preview modal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06440" y="5257800"/>
            <a:ext cx="5029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 &amp;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Built on a modern, production-grade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8" name="Image 0" descr="/home/claude/lumen/icons/fil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6537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340864"/>
            <a:ext cx="2304288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49808" y="2560320"/>
            <a:ext cx="23042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React 19 + Vite 8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" y="2999232"/>
            <a:ext cx="23042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UI, blazing-fast HMR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64992" y="155448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66160" y="1755648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4" name="Image 1" descr="/home/claude/lumen/icons/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86537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340864"/>
            <a:ext cx="2304288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ROUTING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566160" y="2560320"/>
            <a:ext cx="23042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React Router v7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66160" y="2999232"/>
            <a:ext cx="23042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navigation, layouts, guards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81344" y="155448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82512" y="1755648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0" name="Image 2" descr="/home/claude/lumen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6537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82512" y="2340864"/>
            <a:ext cx="2304288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/ DB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382512" y="2560320"/>
            <a:ext cx="23042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Supabase (PostgreSQL)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82512" y="2999232"/>
            <a:ext cx="23042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Auth, database, realtime, storage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997696" y="155448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198864" y="1755648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6" name="Image 3" descr="/home/claude/lumen/icons/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865376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98864" y="2340864"/>
            <a:ext cx="2304288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9198864" y="2560320"/>
            <a:ext cx="23042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Paystack + Serverless API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198864" y="2999232"/>
            <a:ext cx="23042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Coin purchase &amp; payment verification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48640" y="3685032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49808" y="3886200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2" name="Image 4" descr="/home/claude/lumen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995928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49808" y="4471416"/>
            <a:ext cx="2304288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CHARTS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749808" y="4690872"/>
            <a:ext cx="23042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Recharts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749808" y="5129784"/>
            <a:ext cx="23042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Earnings &amp; sales analytics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3364992" y="3685032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3566160" y="3886200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8" name="Image 5" descr="/home/claude/lumen/icons/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3995928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566160" y="4471416"/>
            <a:ext cx="2304288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ICONS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3566160" y="4690872"/>
            <a:ext cx="23042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Lucide React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3566160" y="5129784"/>
            <a:ext cx="23042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icon system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6181344" y="3685032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382512" y="3886200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44" name="Image 6" descr="/home/claude/lumen/icons/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995928"/>
            <a:ext cx="237744" cy="237744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382512" y="4471416"/>
            <a:ext cx="2304288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46" name="Text 37"/>
          <p:cNvSpPr/>
          <p:nvPr/>
        </p:nvSpPr>
        <p:spPr>
          <a:xfrm>
            <a:off x="6382512" y="4690872"/>
            <a:ext cx="23042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Vercel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6382512" y="5129784"/>
            <a:ext cx="23042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Serverless functions + static hosting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8997696" y="3685032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9198864" y="3886200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50" name="Image 7" descr="/home/claude/lumen/icons/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3995928"/>
            <a:ext cx="237744" cy="237744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9198864" y="4471416"/>
            <a:ext cx="2304288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 APIS</a:t>
            </a:r>
            <a:endParaRPr lang="en-US" sz="950" dirty="0"/>
          </a:p>
        </p:txBody>
      </p:sp>
      <p:sp>
        <p:nvSpPr>
          <p:cNvPr id="52" name="Text 42"/>
          <p:cNvSpPr/>
          <p:nvPr/>
        </p:nvSpPr>
        <p:spPr>
          <a:xfrm>
            <a:off x="9198864" y="4690872"/>
            <a:ext cx="23042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AniList · Open Library · TMDB</a:t>
            </a:r>
            <a:endParaRPr lang="en-US" sz="1300" dirty="0"/>
          </a:p>
        </p:txBody>
      </p:sp>
      <p:sp>
        <p:nvSpPr>
          <p:cNvPr id="53" name="Text 43"/>
          <p:cNvSpPr/>
          <p:nvPr/>
        </p:nvSpPr>
        <p:spPr>
          <a:xfrm>
            <a:off x="9198864" y="5129784"/>
            <a:ext cx="23042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media catalog data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Feature-sliced folder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724912" cy="4572000"/>
          </a:xfrm>
          <a:prstGeom prst="roundRect">
            <a:avLst>
              <a:gd name="adj" fmla="val 3020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792224"/>
            <a:ext cx="512064" cy="512064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8" name="Image 0" descr="/home/claude/lumen/icons/fol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1915119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8096" y="2450592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app/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8096" y="2798064"/>
            <a:ext cx="2286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Entry, routing, layouts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" y="3383280"/>
            <a:ext cx="2286000" cy="2606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routes.jsx — route table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layouts/ — Storefront · Admin · Minimal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providers.jsx — global context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92424" y="1554480"/>
            <a:ext cx="2724912" cy="4572000"/>
          </a:xfrm>
          <a:prstGeom prst="roundRect">
            <a:avLst>
              <a:gd name="adj" fmla="val 3020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11880" y="1792224"/>
            <a:ext cx="512064" cy="512064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4" name="Image 1" descr="/home/claude/lumen/icons/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775" y="1915119"/>
            <a:ext cx="266273" cy="2662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1880" y="2450592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features/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11880" y="2798064"/>
            <a:ext cx="2286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Domain-separated modules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611880" y="3383280"/>
            <a:ext cx="2286000" cy="2606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auth/ — context, login, signup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storefront/ — home, browse, cart...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admin/, manager/, staff/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36208" y="1554480"/>
            <a:ext cx="2724912" cy="4572000"/>
          </a:xfrm>
          <a:prstGeom prst="roundRect">
            <a:avLst>
              <a:gd name="adj" fmla="val 3020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55664" y="1792224"/>
            <a:ext cx="512064" cy="512064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0" name="Image 2" descr="/home/claude/lumen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559" y="1915119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55664" y="2450592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services/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455664" y="2798064"/>
            <a:ext cx="2286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backend calls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455664" y="3383280"/>
            <a:ext cx="2286000" cy="2606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media/ — movie, book, manga, comic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cart/, purchases/, coins/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sales/, payouts/, supabase/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079992" y="1554480"/>
            <a:ext cx="2724912" cy="4572000"/>
          </a:xfrm>
          <a:prstGeom prst="roundRect">
            <a:avLst>
              <a:gd name="adj" fmla="val 3020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299448" y="1792224"/>
            <a:ext cx="512064" cy="512064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6" name="Image 3" descr="/home/claude/lumen/icons/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343" y="1915119"/>
            <a:ext cx="266273" cy="26627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99448" y="2450592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shared/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299448" y="2798064"/>
            <a:ext cx="2286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Reusable across features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9299448" y="3383280"/>
            <a:ext cx="2286000" cy="2606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ui/ — HeroBanner, MediaCard, Toast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guards/ — RoleGuard, AuthGuard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hooks/, lib/ — utilities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ROLES &amp;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Role-based access control (RBAC)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611880" cy="4526280"/>
          </a:xfrm>
          <a:prstGeom prst="roundRect">
            <a:avLst>
              <a:gd name="adj" fmla="val 2278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34540" y="1847088"/>
            <a:ext cx="640080" cy="64008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8" name="Image 0" descr="/home/claude/lumen/icons/us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8159" y="2000707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651760"/>
            <a:ext cx="3611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Customer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3246120"/>
            <a:ext cx="297180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/ Buy</a:t>
            </a:r>
            <a:endParaRPr lang="en-US" sz="1200" dirty="0"/>
          </a:p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Library</a:t>
            </a:r>
            <a:endParaRPr lang="en-US" sz="1200" dirty="0"/>
          </a:p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Cart &amp; Wishlist</a:t>
            </a:r>
            <a:endParaRPr lang="en-US" sz="1200" dirty="0"/>
          </a:p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Top-Up Coins</a:t>
            </a:r>
            <a:endParaRPr lang="en-US" sz="1200" dirty="0"/>
          </a:p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Settings</a:t>
            </a:r>
            <a:endParaRPr lang="en-US" sz="1200" dirty="0"/>
          </a:p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as Staff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1554480"/>
            <a:ext cx="3611880" cy="4526280"/>
          </a:xfrm>
          <a:prstGeom prst="roundRect">
            <a:avLst>
              <a:gd name="adj" fmla="val 2278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83580" y="1847088"/>
            <a:ext cx="640080" cy="64008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3" name="Image 1" descr="/home/claude/lumen/icons/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199" y="2000707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2651760"/>
            <a:ext cx="3611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Staff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617720" y="3246120"/>
            <a:ext cx="297180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Everything a Customer has</a:t>
            </a:r>
            <a:endParaRPr lang="en-US" sz="1200" dirty="0"/>
          </a:p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Console access</a:t>
            </a:r>
            <a:endParaRPr lang="en-US" sz="1200" dirty="0"/>
          </a:p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Products &amp; Sales</a:t>
            </a:r>
            <a:endParaRPr lang="en-US" sz="1200" dirty="0"/>
          </a:p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Earnings</a:t>
            </a:r>
            <a:endParaRPr lang="en-US" sz="1200" dirty="0"/>
          </a:p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Payout Requests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1554480"/>
            <a:ext cx="3611880" cy="4526280"/>
          </a:xfrm>
          <a:prstGeom prst="roundRect">
            <a:avLst>
              <a:gd name="adj" fmla="val 2278"/>
            </a:avLst>
          </a:prstGeom>
          <a:solidFill>
            <a:srgbClr val="1C1E3C"/>
          </a:solidFill>
          <a:ln w="12700">
            <a:solidFill>
              <a:srgbClr val="F2B70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32620" y="1847088"/>
            <a:ext cx="640080" cy="64008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8" name="Image 2" descr="/home/claude/lumen/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239" y="2000707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2651760"/>
            <a:ext cx="3611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Manager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366760" y="3246120"/>
            <a:ext cx="297180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Everything Staff has</a:t>
            </a:r>
            <a:endParaRPr lang="en-US" sz="1200" dirty="0"/>
          </a:p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Products &amp; Sales</a:t>
            </a:r>
            <a:endParaRPr lang="en-US" sz="1200" dirty="0"/>
          </a:p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Earnings</a:t>
            </a:r>
            <a:endParaRPr lang="en-US" sz="1200" dirty="0"/>
          </a:p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Payout Approvals</a:t>
            </a:r>
            <a:endParaRPr lang="en-US" sz="1200" dirty="0"/>
          </a:p>
          <a:p>
            <a:pPr marL="228600" indent="-2286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Management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6199632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Implementation: a RoleGuard component wraps protected routes, reads profile.role from Supabase, and redirects unauthorized access.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Auth flow — Supabase + AuthContext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989320" cy="621792"/>
          </a:xfrm>
          <a:prstGeom prst="roundRect">
            <a:avLst>
              <a:gd name="adj" fmla="val 1323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837944"/>
            <a:ext cx="329184" cy="329184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837944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52144" y="1691640"/>
            <a:ext cx="5212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visits app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74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96312"/>
            <a:ext cx="5989320" cy="621792"/>
          </a:xfrm>
          <a:prstGeom prst="roundRect">
            <a:avLst>
              <a:gd name="adj" fmla="val 1323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2642616"/>
            <a:ext cx="329184" cy="329184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642616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2144" y="2496312"/>
            <a:ext cx="5212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AuthContext mounts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3118104"/>
            <a:ext cx="274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5989320" cy="621792"/>
          </a:xfrm>
          <a:prstGeom prst="roundRect">
            <a:avLst>
              <a:gd name="adj" fmla="val 13235"/>
            </a:avLst>
          </a:prstGeom>
          <a:solidFill>
            <a:srgbClr val="1C1E3C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3447288"/>
            <a:ext cx="329184" cy="329184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447288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" y="3300984"/>
            <a:ext cx="5212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getSession() checked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3922776"/>
            <a:ext cx="274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05656"/>
            <a:ext cx="5989320" cy="621792"/>
          </a:xfrm>
          <a:prstGeom prst="roundRect">
            <a:avLst>
              <a:gd name="adj" fmla="val 1323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" y="4251960"/>
            <a:ext cx="329184" cy="329184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425196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" y="4105656"/>
            <a:ext cx="5212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 loaded / user = null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4727448"/>
            <a:ext cx="274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910328"/>
            <a:ext cx="5989320" cy="621792"/>
          </a:xfrm>
          <a:prstGeom prst="roundRect">
            <a:avLst>
              <a:gd name="adj" fmla="val 1323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" y="5056632"/>
            <a:ext cx="329184" cy="329184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505663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2144" y="4910328"/>
            <a:ext cx="5212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onAuthStateChange listens live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0" y="1691640"/>
            <a:ext cx="2304288" cy="1060704"/>
          </a:xfrm>
          <a:prstGeom prst="roundRect">
            <a:avLst>
              <a:gd name="adj" fmla="val 7759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04304" y="1837944"/>
            <a:ext cx="365760" cy="36576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2" name="Image 0" descr="/home/claude/lumen/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2086" y="1925726"/>
            <a:ext cx="190195" cy="190195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452360" y="1801368"/>
            <a:ext cx="15727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 Up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7004304" y="2167128"/>
            <a:ext cx="20299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Email/password + username metadata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9308592" y="1691640"/>
            <a:ext cx="2304288" cy="1060704"/>
          </a:xfrm>
          <a:prstGeom prst="roundRect">
            <a:avLst>
              <a:gd name="adj" fmla="val 7759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454896" y="1837944"/>
            <a:ext cx="365760" cy="36576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7" name="Image 1" descr="/home/claude/lumen/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2678" y="1925726"/>
            <a:ext cx="190195" cy="190195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9902952" y="1801368"/>
            <a:ext cx="15727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Confirmation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9454896" y="2167128"/>
            <a:ext cx="20299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Supabase magic-link verification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6858000" y="2898648"/>
            <a:ext cx="2304288" cy="1060704"/>
          </a:xfrm>
          <a:prstGeom prst="roundRect">
            <a:avLst>
              <a:gd name="adj" fmla="val 7759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004304" y="3044952"/>
            <a:ext cx="365760" cy="36576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42" name="Image 2" descr="/home/claude/lumen/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2086" y="3132734"/>
            <a:ext cx="190195" cy="190195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7452360" y="3008376"/>
            <a:ext cx="15727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 In</a:t>
            </a:r>
            <a:endParaRPr lang="en-US" sz="1150" dirty="0"/>
          </a:p>
        </p:txBody>
      </p:sp>
      <p:sp>
        <p:nvSpPr>
          <p:cNvPr id="44" name="Text 39"/>
          <p:cNvSpPr/>
          <p:nvPr/>
        </p:nvSpPr>
        <p:spPr>
          <a:xfrm>
            <a:off x="7004304" y="3374136"/>
            <a:ext cx="20299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 status checked (active/suspended)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9308592" y="2898648"/>
            <a:ext cx="2304288" cy="1060704"/>
          </a:xfrm>
          <a:prstGeom prst="roundRect">
            <a:avLst>
              <a:gd name="adj" fmla="val 7759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454896" y="3044952"/>
            <a:ext cx="365760" cy="36576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47" name="Image 3" descr="/home/claude/lumen/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2678" y="3132734"/>
            <a:ext cx="190195" cy="190195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9902952" y="3008376"/>
            <a:ext cx="15727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Suspended Accounts</a:t>
            </a:r>
            <a:endParaRPr lang="en-US" sz="1150" dirty="0"/>
          </a:p>
        </p:txBody>
      </p:sp>
      <p:sp>
        <p:nvSpPr>
          <p:cNvPr id="49" name="Text 43"/>
          <p:cNvSpPr/>
          <p:nvPr/>
        </p:nvSpPr>
        <p:spPr>
          <a:xfrm>
            <a:off x="9454896" y="3374136"/>
            <a:ext cx="20299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 sign-out with clear error message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6858000" y="4105656"/>
            <a:ext cx="2304288" cy="1060704"/>
          </a:xfrm>
          <a:prstGeom prst="roundRect">
            <a:avLst>
              <a:gd name="adj" fmla="val 7759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7004304" y="4251960"/>
            <a:ext cx="365760" cy="36576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52" name="Image 4" descr="/home/claude/lumen/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2086" y="4339742"/>
            <a:ext cx="190195" cy="190195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7452360" y="4215384"/>
            <a:ext cx="15727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 Loading</a:t>
            </a:r>
            <a:endParaRPr lang="en-US" sz="1150" dirty="0"/>
          </a:p>
        </p:txBody>
      </p:sp>
      <p:sp>
        <p:nvSpPr>
          <p:cNvPr id="54" name="Text 47"/>
          <p:cNvSpPr/>
          <p:nvPr/>
        </p:nvSpPr>
        <p:spPr>
          <a:xfrm>
            <a:off x="7004304" y="4581144"/>
            <a:ext cx="20299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Role, username &amp; coins pulled from DB</a:t>
            </a:r>
            <a:endParaRPr lang="en-US" sz="950" dirty="0"/>
          </a:p>
        </p:txBody>
      </p:sp>
      <p:sp>
        <p:nvSpPr>
          <p:cNvPr id="55" name="Shape 48"/>
          <p:cNvSpPr/>
          <p:nvPr/>
        </p:nvSpPr>
        <p:spPr>
          <a:xfrm>
            <a:off x="9308592" y="4105656"/>
            <a:ext cx="2304288" cy="1060704"/>
          </a:xfrm>
          <a:prstGeom prst="roundRect">
            <a:avLst>
              <a:gd name="adj" fmla="val 7759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9454896" y="4251960"/>
            <a:ext cx="365760" cy="36576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57" name="Image 5" descr="/home/claude/lumen/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2678" y="4339742"/>
            <a:ext cx="190195" cy="190195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9902952" y="4215384"/>
            <a:ext cx="15727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Persistence</a:t>
            </a:r>
            <a:endParaRPr lang="en-US" sz="1150" dirty="0"/>
          </a:p>
        </p:txBody>
      </p:sp>
      <p:sp>
        <p:nvSpPr>
          <p:cNvPr id="59" name="Text 51"/>
          <p:cNvSpPr/>
          <p:nvPr/>
        </p:nvSpPr>
        <p:spPr>
          <a:xfrm>
            <a:off x="9454896" y="4581144"/>
            <a:ext cx="20299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Survives a full page refresh</a:t>
            </a:r>
            <a:endParaRPr lang="en-US" sz="950" dirty="0"/>
          </a:p>
        </p:txBody>
      </p:sp>
      <p:sp>
        <p:nvSpPr>
          <p:cNvPr id="60" name="Text 52"/>
          <p:cNvSpPr/>
          <p:nvPr/>
        </p:nvSpPr>
        <p:spPr>
          <a:xfrm>
            <a:off x="6858000" y="626364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1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Files: AuthContext.jsx · LoginPage.jsx · SignupPage.jsx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STOREFRONT PAGES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22 customer-facing pages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/ 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66160" y="1481328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0" y="1481328"/>
            <a:ext cx="5669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847088"/>
            <a:ext cx="11064240" cy="379476"/>
          </a:xfrm>
          <a:prstGeom prst="rect">
            <a:avLst/>
          </a:prstGeom>
          <a:solidFill>
            <a:srgbClr val="15172E">
              <a:alpha val="6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40080" y="1847088"/>
            <a:ext cx="292608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847088"/>
            <a:ext cx="22860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1847088"/>
            <a:ext cx="54864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Hero Banner + Media Rails by type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226564"/>
            <a:ext cx="292608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226564"/>
            <a:ext cx="22860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/browse/:type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226564"/>
            <a:ext cx="54864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Infinite scroll, genre/year/rating filters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11064240" cy="379476"/>
          </a:xfrm>
          <a:prstGeom prst="rect">
            <a:avLst/>
          </a:prstGeom>
          <a:solidFill>
            <a:srgbClr val="15172E">
              <a:alpha val="6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640080" y="2606040"/>
            <a:ext cx="292608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Detail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2606040"/>
            <a:ext cx="22860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/product/:type/:id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2606040"/>
            <a:ext cx="54864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 with coins, wishlist, preview modal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2985516"/>
            <a:ext cx="292608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2985516"/>
            <a:ext cx="22860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/search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2985516"/>
            <a:ext cx="54864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Cross-type fuzzy search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364992"/>
            <a:ext cx="11064240" cy="379476"/>
          </a:xfrm>
          <a:prstGeom prst="rect">
            <a:avLst/>
          </a:prstGeom>
          <a:solidFill>
            <a:srgbClr val="15172E">
              <a:alpha val="6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640080" y="3364992"/>
            <a:ext cx="292608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3364992"/>
            <a:ext cx="22860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/cart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3364992"/>
            <a:ext cx="54864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 items, coin balance check, checkout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3744468"/>
            <a:ext cx="292608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0" y="3744468"/>
            <a:ext cx="22860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/library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3744468"/>
            <a:ext cx="54864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Purchased content, remove access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123944"/>
            <a:ext cx="11064240" cy="379476"/>
          </a:xfrm>
          <a:prstGeom prst="rect">
            <a:avLst/>
          </a:prstGeom>
          <a:solidFill>
            <a:srgbClr val="15172E">
              <a:alpha val="6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40080" y="4123944"/>
            <a:ext cx="292608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Wishlist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4123944"/>
            <a:ext cx="22860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/wishlist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4123944"/>
            <a:ext cx="54864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Saved items, quick-add to cart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4503420"/>
            <a:ext cx="292608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0" y="4503420"/>
            <a:ext cx="22860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/watch/:id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4503420"/>
            <a:ext cx="54864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Movie player (Archive.org embed)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4882896"/>
            <a:ext cx="11064240" cy="379476"/>
          </a:xfrm>
          <a:prstGeom prst="rect">
            <a:avLst/>
          </a:prstGeom>
          <a:solidFill>
            <a:srgbClr val="15172E">
              <a:alpha val="60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640080" y="4882896"/>
            <a:ext cx="292608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Top-Up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0" y="4882896"/>
            <a:ext cx="22860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/top-up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35040" y="4882896"/>
            <a:ext cx="54864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Coin packages — Bronze to Diamond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" y="5262372"/>
            <a:ext cx="292608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Receipt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0" y="5262372"/>
            <a:ext cx="22860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/receipt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35040" y="5262372"/>
            <a:ext cx="54864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Post-purchase confirmation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641848"/>
            <a:ext cx="11064240" cy="379476"/>
          </a:xfrm>
          <a:prstGeom prst="rect">
            <a:avLst/>
          </a:prstGeom>
          <a:solidFill>
            <a:srgbClr val="15172E">
              <a:alpha val="60000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640080" y="5641848"/>
            <a:ext cx="292608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Settings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0" y="5641848"/>
            <a:ext cx="22860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/settings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35040" y="5641848"/>
            <a:ext cx="54864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 management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0080" y="6021324"/>
            <a:ext cx="292608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Apply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0" y="6021324"/>
            <a:ext cx="22860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/apply-staff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35040" y="6021324"/>
            <a:ext cx="5486400" cy="3794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application form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 DATA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Multi-source architecture, one interface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297680" y="1600200"/>
            <a:ext cx="3566160" cy="777240"/>
          </a:xfrm>
          <a:prstGeom prst="roundRect">
            <a:avLst>
              <a:gd name="adj" fmla="val 10588"/>
            </a:avLst>
          </a:prstGeom>
          <a:solidFill>
            <a:srgbClr val="1C1E3C"/>
          </a:solidFill>
          <a:ln w="12700">
            <a:solidFill>
              <a:srgbClr val="F2B70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0" y="1600200"/>
            <a:ext cx="3566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getMediaByType(type)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19656" y="2377440"/>
            <a:ext cx="0" cy="685800"/>
          </a:xfrm>
          <a:prstGeom prst="line">
            <a:avLst/>
          </a:prstGeom>
          <a:noFill/>
          <a:ln w="15875">
            <a:solidFill>
              <a:srgbClr val="2B2E54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306324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3264408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1" name="Image 0" descr="/home/claude/lumen/icons/fil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374136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" y="3840480"/>
            <a:ext cx="217627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1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type = "movie"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9808" y="4105656"/>
            <a:ext cx="21762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TMDB API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9808" y="4434840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Popular movies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62856" y="2377440"/>
            <a:ext cx="0" cy="685800"/>
          </a:xfrm>
          <a:prstGeom prst="line">
            <a:avLst/>
          </a:prstGeom>
          <a:noFill/>
          <a:ln w="15875">
            <a:solidFill>
              <a:srgbClr val="2B2E54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3291840" y="306324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93008" y="3264408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8" name="Image 1" descr="/home/claude/lumen/icons/man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3374136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93008" y="3840480"/>
            <a:ext cx="217627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1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type = "manga"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493008" y="4105656"/>
            <a:ext cx="21762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AniList GraphQL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493008" y="4434840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Popular manga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306056" y="2377440"/>
            <a:ext cx="0" cy="685800"/>
          </a:xfrm>
          <a:prstGeom prst="line">
            <a:avLst/>
          </a:prstGeom>
          <a:noFill/>
          <a:ln w="15875">
            <a:solidFill>
              <a:srgbClr val="2B2E54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>
            <a:off x="6035040" y="306324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36208" y="3264408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5" name="Image 2" descr="/home/claude/lumen/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3374136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36208" y="3840480"/>
            <a:ext cx="217627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1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type = "book"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236208" y="4105656"/>
            <a:ext cx="21762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Open Library API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236208" y="4434840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Public-domain books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10049256" y="2377440"/>
            <a:ext cx="0" cy="685800"/>
          </a:xfrm>
          <a:prstGeom prst="line">
            <a:avLst/>
          </a:prstGeom>
          <a:noFill/>
          <a:ln w="15875">
            <a:solidFill>
              <a:srgbClr val="2B2E54"/>
            </a:solidFill>
            <a:prstDash val="dash"/>
          </a:ln>
        </p:spPr>
      </p:sp>
      <p:sp>
        <p:nvSpPr>
          <p:cNvPr id="30" name="Shape 25"/>
          <p:cNvSpPr/>
          <p:nvPr/>
        </p:nvSpPr>
        <p:spPr>
          <a:xfrm>
            <a:off x="8778240" y="306324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979408" y="3264408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2" name="Image 3" descr="/home/claude/lumen/icons/co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3374136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979408" y="3840480"/>
            <a:ext cx="217627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1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type = "comic"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8979408" y="4105656"/>
            <a:ext cx="21762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Supabase DB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8979408" y="4434840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Admin-uploaded comics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548640" y="507492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868680" y="5349240"/>
            <a:ext cx="502920" cy="50292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8" name="Image 4" descr="/home/claude/lumen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1" y="5469941"/>
            <a:ext cx="261518" cy="26151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554480" y="5349240"/>
            <a:ext cx="9784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Caching strategy.  </a:t>
            </a:r>
            <a:r>
              <a:rPr lang="en-US" sz="12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external API responses are cached in localStorage via a readCache / writeCache utility — minimizing redundant calls, improving load speed, and avoiding rate-limits.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COIN ECONOMY &amp; PAYMENTS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coin purchases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542032" cy="1554480"/>
          </a:xfrm>
          <a:prstGeom prst="roundRect">
            <a:avLst>
              <a:gd name="adj" fmla="val 5294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37360"/>
            <a:ext cx="438912" cy="438912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8" name="Image 0" descr="/home/claude/lumen/icons/wall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147" y="1842699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448" y="1773936"/>
            <a:ext cx="16276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BRONZE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808" y="2304288"/>
            <a:ext cx="21762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 coins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49808" y="2697480"/>
            <a:ext cx="21762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₦500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91840" y="1554480"/>
            <a:ext cx="2542032" cy="1554480"/>
          </a:xfrm>
          <a:prstGeom prst="roundRect">
            <a:avLst>
              <a:gd name="adj" fmla="val 5294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93008" y="1737360"/>
            <a:ext cx="438912" cy="438912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4" name="Image 1" descr="/home/claude/lumen/icons/wall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8347" y="1842699"/>
            <a:ext cx="228234" cy="22823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41648" y="1773936"/>
            <a:ext cx="16276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SILVER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93008" y="2304288"/>
            <a:ext cx="21762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500 coins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493008" y="2697480"/>
            <a:ext cx="21762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₦2,500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35040" y="1554480"/>
            <a:ext cx="2542032" cy="1554480"/>
          </a:xfrm>
          <a:prstGeom prst="roundRect">
            <a:avLst>
              <a:gd name="adj" fmla="val 5294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36208" y="1737360"/>
            <a:ext cx="438912" cy="438912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0" name="Image 2" descr="/home/claude/lumen/icons/wall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547" y="1842699"/>
            <a:ext cx="228234" cy="22823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84848" y="1773936"/>
            <a:ext cx="16276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GOLD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36208" y="2304288"/>
            <a:ext cx="21762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1,000 coins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236208" y="2697480"/>
            <a:ext cx="21762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₦5,000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778240" y="1554480"/>
            <a:ext cx="2542032" cy="1554480"/>
          </a:xfrm>
          <a:prstGeom prst="roundRect">
            <a:avLst>
              <a:gd name="adj" fmla="val 5294"/>
            </a:avLst>
          </a:prstGeom>
          <a:solidFill>
            <a:srgbClr val="1C1E3C"/>
          </a:solidFill>
          <a:ln w="12700">
            <a:solidFill>
              <a:srgbClr val="F2B70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979408" y="1737360"/>
            <a:ext cx="438912" cy="438912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6" name="Image 3" descr="/home/claude/lumen/icons/wall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4747" y="1842699"/>
            <a:ext cx="228234" cy="22823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28048" y="1773936"/>
            <a:ext cx="16276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DIAMOND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979408" y="2304288"/>
            <a:ext cx="21762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2,500 coins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8979408" y="2697480"/>
            <a:ext cx="21762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₦12,500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548640" y="3520440"/>
            <a:ext cx="2101291" cy="1737360"/>
          </a:xfrm>
          <a:prstGeom prst="roundRect">
            <a:avLst>
              <a:gd name="adj" fmla="val 4737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379830" y="3703320"/>
            <a:ext cx="438912" cy="438912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1379830" y="370332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676656" y="4270248"/>
            <a:ext cx="1845259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selects a coin package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2649931" y="3794760"/>
            <a:ext cx="1463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2796235" y="3520440"/>
            <a:ext cx="2101291" cy="1737360"/>
          </a:xfrm>
          <a:prstGeom prst="roundRect">
            <a:avLst>
              <a:gd name="adj" fmla="val 4737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627425" y="3703320"/>
            <a:ext cx="438912" cy="438912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627425" y="370332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2924251" y="4270248"/>
            <a:ext cx="1845259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Paystack modal opens — real payment gateway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4897526" y="3794760"/>
            <a:ext cx="1463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5043830" y="3520440"/>
            <a:ext cx="2101291" cy="1737360"/>
          </a:xfrm>
          <a:prstGeom prst="roundRect">
            <a:avLst>
              <a:gd name="adj" fmla="val 4737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5875020" y="3703320"/>
            <a:ext cx="438912" cy="438912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875020" y="370332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500" dirty="0"/>
          </a:p>
        </p:txBody>
      </p:sp>
      <p:sp>
        <p:nvSpPr>
          <p:cNvPr id="43" name="Text 37"/>
          <p:cNvSpPr/>
          <p:nvPr/>
        </p:nvSpPr>
        <p:spPr>
          <a:xfrm>
            <a:off x="5171846" y="4270248"/>
            <a:ext cx="1845259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Serverless Vercel API verifies the payment reference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7145122" y="3794760"/>
            <a:ext cx="1463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39"/>
          <p:cNvSpPr/>
          <p:nvPr/>
        </p:nvSpPr>
        <p:spPr>
          <a:xfrm>
            <a:off x="7291426" y="3520440"/>
            <a:ext cx="2101291" cy="1737360"/>
          </a:xfrm>
          <a:prstGeom prst="roundRect">
            <a:avLst>
              <a:gd name="adj" fmla="val 4737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8122615" y="3703320"/>
            <a:ext cx="438912" cy="438912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8122615" y="370332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500" dirty="0"/>
          </a:p>
        </p:txBody>
      </p:sp>
      <p:sp>
        <p:nvSpPr>
          <p:cNvPr id="48" name="Text 42"/>
          <p:cNvSpPr/>
          <p:nvPr/>
        </p:nvSpPr>
        <p:spPr>
          <a:xfrm>
            <a:off x="7419442" y="4270248"/>
            <a:ext cx="1845259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Coins credited to the user's Supabase balance</a:t>
            </a:r>
            <a:endParaRPr lang="en-US" sz="1050" dirty="0"/>
          </a:p>
        </p:txBody>
      </p:sp>
      <p:sp>
        <p:nvSpPr>
          <p:cNvPr id="49" name="Text 43"/>
          <p:cNvSpPr/>
          <p:nvPr/>
        </p:nvSpPr>
        <p:spPr>
          <a:xfrm>
            <a:off x="9392717" y="3794760"/>
            <a:ext cx="1463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Shape 44"/>
          <p:cNvSpPr/>
          <p:nvPr/>
        </p:nvSpPr>
        <p:spPr>
          <a:xfrm>
            <a:off x="9539021" y="3520440"/>
            <a:ext cx="2101291" cy="1737360"/>
          </a:xfrm>
          <a:prstGeom prst="roundRect">
            <a:avLst>
              <a:gd name="adj" fmla="val 4737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10370210" y="3703320"/>
            <a:ext cx="438912" cy="438912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10370210" y="370332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500" dirty="0"/>
          </a:p>
        </p:txBody>
      </p:sp>
      <p:sp>
        <p:nvSpPr>
          <p:cNvPr id="53" name="Text 47"/>
          <p:cNvSpPr/>
          <p:nvPr/>
        </p:nvSpPr>
        <p:spPr>
          <a:xfrm>
            <a:off x="9667037" y="4270248"/>
            <a:ext cx="1845259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instantly spends coins on content</a:t>
            </a:r>
            <a:endParaRPr lang="en-US" sz="1050" dirty="0"/>
          </a:p>
        </p:txBody>
      </p:sp>
      <p:sp>
        <p:nvSpPr>
          <p:cNvPr id="54" name="Text 48"/>
          <p:cNvSpPr/>
          <p:nvPr/>
        </p:nvSpPr>
        <p:spPr>
          <a:xfrm>
            <a:off x="548640" y="553212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1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Files: TopUpPage.jsx · api/verify-coin-purchase.js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DETAIL &amp; PURCHASE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Buying content with coins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309360" cy="786384"/>
          </a:xfrm>
          <a:prstGeom prst="roundRect">
            <a:avLst>
              <a:gd name="adj" fmla="val 1046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792224"/>
            <a:ext cx="310896" cy="310896"/>
          </a:xfrm>
          <a:prstGeom prst="ellipse">
            <a:avLst/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792224"/>
            <a:ext cx="3108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554480"/>
            <a:ext cx="55778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 /product/:type/:id — load product, wishlist &amp; purchase status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6309360" cy="786384"/>
          </a:xfrm>
          <a:prstGeom prst="roundRect">
            <a:avLst>
              <a:gd name="adj" fmla="val 1046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" y="2697480"/>
            <a:ext cx="310896" cy="310896"/>
          </a:xfrm>
          <a:prstGeom prst="ellipse">
            <a:avLst/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697480"/>
            <a:ext cx="3108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459736"/>
            <a:ext cx="55778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Already purchased? → Show “Watch Trailer” or “View Preview”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64992"/>
            <a:ext cx="6309360" cy="786384"/>
          </a:xfrm>
          <a:prstGeom prst="roundRect">
            <a:avLst>
              <a:gd name="adj" fmla="val 1046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3602736"/>
            <a:ext cx="310896" cy="310896"/>
          </a:xfrm>
          <a:prstGeom prst="ellipse">
            <a:avLst/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602736"/>
            <a:ext cx="3108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364992"/>
            <a:ext cx="55778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logged in? → Redirect to /login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70248"/>
            <a:ext cx="6309360" cy="786384"/>
          </a:xfrm>
          <a:prstGeom prst="roundRect">
            <a:avLst>
              <a:gd name="adj" fmla="val 1046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" y="4507992"/>
            <a:ext cx="310896" cy="310896"/>
          </a:xfrm>
          <a:prstGeom prst="ellipse">
            <a:avLst/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4507992"/>
            <a:ext cx="3108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" y="4270248"/>
            <a:ext cx="55778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enough coins? → Show “Get more coins” link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175504"/>
            <a:ext cx="6309360" cy="786384"/>
          </a:xfrm>
          <a:prstGeom prst="roundRect">
            <a:avLst>
              <a:gd name="adj" fmla="val 10465"/>
            </a:avLst>
          </a:prstGeom>
          <a:solidFill>
            <a:srgbClr val="1C1E3C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" y="5413248"/>
            <a:ext cx="310896" cy="310896"/>
          </a:xfrm>
          <a:prstGeom prst="ellipse">
            <a:avLst/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5413248"/>
            <a:ext cx="3108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" y="5175504"/>
            <a:ext cx="55778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Enough coins? → spendCoins() → createPurchase() → navigate /receipt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086600" y="1554480"/>
            <a:ext cx="4553712" cy="941832"/>
          </a:xfrm>
          <a:prstGeom prst="roundRect">
            <a:avLst>
              <a:gd name="adj" fmla="val 8738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51192" y="1737360"/>
            <a:ext cx="566928" cy="566928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8" name="Image 0" descr="/home/claude/lumen/icons/rou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7255" y="1873423"/>
            <a:ext cx="294803" cy="294803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946136" y="1682496"/>
            <a:ext cx="35478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Adaptation Bridge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946136" y="1993392"/>
            <a:ext cx="354787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Links related titles across formats (a manga and its movie adaptation)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086600" y="2615184"/>
            <a:ext cx="4553712" cy="941832"/>
          </a:xfrm>
          <a:prstGeom prst="roundRect">
            <a:avLst>
              <a:gd name="adj" fmla="val 8738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251192" y="2798064"/>
            <a:ext cx="566928" cy="566928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3" name="Image 1" descr="/home/claude/lumen/icons/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255" y="2934127"/>
            <a:ext cx="294803" cy="294803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946136" y="2743200"/>
            <a:ext cx="35478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Reading Progress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7946136" y="3054096"/>
            <a:ext cx="354787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Saves page progress to Supabase on every preview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7086600" y="3675888"/>
            <a:ext cx="4553712" cy="941832"/>
          </a:xfrm>
          <a:prstGeom prst="roundRect">
            <a:avLst>
              <a:gd name="adj" fmla="val 8738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251192" y="3858768"/>
            <a:ext cx="566928" cy="566928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8" name="Image 2" descr="/home/claude/lumen/icon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255" y="3994831"/>
            <a:ext cx="294803" cy="294803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946136" y="3803904"/>
            <a:ext cx="35478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In-App Reader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7946136" y="4114800"/>
            <a:ext cx="354787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 Archive iframe embed for public-domain books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7086600" y="4736592"/>
            <a:ext cx="4553712" cy="941832"/>
          </a:xfrm>
          <a:prstGeom prst="roundRect">
            <a:avLst>
              <a:gd name="adj" fmla="val 8738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251192" y="4919472"/>
            <a:ext cx="566928" cy="566928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43" name="Image 3" descr="/home/claude/lumen/icons/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255" y="5055535"/>
            <a:ext cx="294803" cy="294803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7946136" y="4864608"/>
            <a:ext cx="35478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Continue Rail</a:t>
            </a:r>
            <a:endParaRPr lang="en-US" sz="1250" dirty="0"/>
          </a:p>
        </p:txBody>
      </p:sp>
      <p:sp>
        <p:nvSpPr>
          <p:cNvPr id="45" name="Text 39"/>
          <p:cNvSpPr/>
          <p:nvPr/>
        </p:nvSpPr>
        <p:spPr>
          <a:xfrm>
            <a:off x="7946136" y="5175504"/>
            <a:ext cx="354787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Homepage section for items the user has started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CART &amp; CHECKOUT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Keeping cart, coins and ownership in sync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11091672" cy="576072"/>
          </a:xfrm>
          <a:prstGeom prst="roundRect">
            <a:avLst>
              <a:gd name="adj" fmla="val 14286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618488"/>
            <a:ext cx="411480" cy="41148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8" name="Image 0" descr="/home/claude/lumen/icons/c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" y="1717243"/>
            <a:ext cx="213970" cy="2139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536192"/>
            <a:ext cx="310896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to cart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480560" y="1536192"/>
            <a:ext cx="6976872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Available directly on the Product Detail page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203704"/>
            <a:ext cx="11091672" cy="576072"/>
          </a:xfrm>
          <a:prstGeom prst="roundRect">
            <a:avLst>
              <a:gd name="adj" fmla="val 14286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" y="2286000"/>
            <a:ext cx="411480" cy="41148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3" name="Image 1" descr="/home/claude/lumen/icons/c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" y="2384755"/>
            <a:ext cx="213970" cy="21397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203704"/>
            <a:ext cx="310896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Cart sync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480560" y="2203704"/>
            <a:ext cx="6976872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via StorefrontContext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2871216"/>
            <a:ext cx="11091672" cy="576072"/>
          </a:xfrm>
          <a:prstGeom prst="roundRect">
            <a:avLst>
              <a:gd name="adj" fmla="val 14286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76656" y="2953512"/>
            <a:ext cx="411480" cy="41148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8" name="Image 2" descr="/home/claude/lumen/icons/c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" y="3052267"/>
            <a:ext cx="213970" cy="21397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2871216"/>
            <a:ext cx="310896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Enrichment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480560" y="2871216"/>
            <a:ext cx="6976872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Cart rows joined with live product data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538728"/>
            <a:ext cx="11091672" cy="576072"/>
          </a:xfrm>
          <a:prstGeom prst="roundRect">
            <a:avLst>
              <a:gd name="adj" fmla="val 14286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6656" y="3621024"/>
            <a:ext cx="411480" cy="41148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3" name="Image 3" descr="/home/claude/lumen/icons/c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" y="3719779"/>
            <a:ext cx="213970" cy="21397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3538728"/>
            <a:ext cx="310896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Already-owned check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480560" y="3538728"/>
            <a:ext cx="6976872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Owned items auto-removed from cart at checkout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4206240"/>
            <a:ext cx="11091672" cy="576072"/>
          </a:xfrm>
          <a:prstGeom prst="roundRect">
            <a:avLst>
              <a:gd name="adj" fmla="val 14286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76656" y="4288536"/>
            <a:ext cx="411480" cy="41148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8" name="Image 4" descr="/home/claude/lumen/icons/c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" y="4387291"/>
            <a:ext cx="213970" cy="21397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34440" y="4206240"/>
            <a:ext cx="310896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Coin validation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480560" y="4206240"/>
            <a:ext cx="6976872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Checkout disabled if balance &lt; total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48640" y="4873752"/>
            <a:ext cx="11091672" cy="576072"/>
          </a:xfrm>
          <a:prstGeom prst="roundRect">
            <a:avLst>
              <a:gd name="adj" fmla="val 14286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76656" y="4956048"/>
            <a:ext cx="411480" cy="41148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3" name="Image 5" descr="/home/claude/lumen/icons/c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" y="5054803"/>
            <a:ext cx="213970" cy="21397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234440" y="4873752"/>
            <a:ext cx="310896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Shortfall display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4480560" y="4873752"/>
            <a:ext cx="6976872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exact deficit + a quick “Top up” link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48640" y="5541264"/>
            <a:ext cx="11091672" cy="576072"/>
          </a:xfrm>
          <a:prstGeom prst="roundRect">
            <a:avLst>
              <a:gd name="adj" fmla="val 14286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76656" y="5623560"/>
            <a:ext cx="411480" cy="41148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8" name="Image 6" descr="/home/claude/lumen/icons/c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" y="5722315"/>
            <a:ext cx="213970" cy="21397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234440" y="5541264"/>
            <a:ext cx="310896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Checkout result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4480560" y="5541264"/>
            <a:ext cx="6976872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Navigates to /receipt with purchased items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548640" y="62819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1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File: CartPage.jsx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CONSOLE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Creator &amp; staff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— </a:t>
            </a:r>
            <a:r>
              <a:rPr lang="en-US" sz="12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protected by RoleGuard; only staff and manager roles can reach /admin.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66160" cy="1325880"/>
          </a:xfrm>
          <a:prstGeom prst="roundRect">
            <a:avLst>
              <a:gd name="adj" fmla="val 6207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9" name="Image 0" descr="/home/claude/lumen/icons/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25856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148840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325880" y="246888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1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31520" y="28803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+ Manager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97680" y="1965960"/>
            <a:ext cx="3566160" cy="1325880"/>
          </a:xfrm>
          <a:prstGeom prst="roundRect">
            <a:avLst>
              <a:gd name="adj" fmla="val 6207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80560" y="2148840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5" name="Image 1" descr="/home/claude/lumen/icons/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25856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74920" y="2148840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Products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074920" y="246888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1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/admin/products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480560" y="28803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+ Manager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046720" y="1965960"/>
            <a:ext cx="3566160" cy="1325880"/>
          </a:xfrm>
          <a:prstGeom prst="roundRect">
            <a:avLst>
              <a:gd name="adj" fmla="val 6207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0" y="2148840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1" name="Image 2" descr="/home/claude/lumen/icons/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258568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23960" y="2148840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Sales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823960" y="246888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1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/admin/sales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229600" y="28803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+ Manager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48640" y="3474720"/>
            <a:ext cx="3566160" cy="1325880"/>
          </a:xfrm>
          <a:prstGeom prst="roundRect">
            <a:avLst>
              <a:gd name="adj" fmla="val 6207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7" name="Image 3" descr="/home/claude/lumen/icons/wal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767328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25880" y="3657600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Earnings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1325880" y="397764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1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/admin/earnings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731520" y="438912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+ Manager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4297680" y="3474720"/>
            <a:ext cx="3566160" cy="1325880"/>
          </a:xfrm>
          <a:prstGeom prst="roundRect">
            <a:avLst>
              <a:gd name="adj" fmla="val 6207"/>
            </a:avLst>
          </a:prstGeom>
          <a:solidFill>
            <a:srgbClr val="1C1E3C"/>
          </a:solidFill>
          <a:ln w="12700">
            <a:solidFill>
              <a:srgbClr val="F2B70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480560" y="3657600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3" name="Image 4" descr="/home/claude/lumen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3767328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074920" y="3657600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Staff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5074920" y="397764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1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/admin/staff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4480560" y="438912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Manager only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046720" y="3474720"/>
            <a:ext cx="3566160" cy="1325880"/>
          </a:xfrm>
          <a:prstGeom prst="roundRect">
            <a:avLst>
              <a:gd name="adj" fmla="val 6207"/>
            </a:avLst>
          </a:prstGeom>
          <a:solidFill>
            <a:srgbClr val="1C1E3C"/>
          </a:solidFill>
          <a:ln w="12700">
            <a:solidFill>
              <a:srgbClr val="F2B70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229600" y="3657600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9" name="Image 5" descr="/home/claude/lumen/icons/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3767328"/>
            <a:ext cx="237744" cy="23774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823960" y="3657600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Payout Requests</a:t>
            </a:r>
            <a:endParaRPr lang="en-US" sz="1350" dirty="0"/>
          </a:p>
        </p:txBody>
      </p:sp>
      <p:sp>
        <p:nvSpPr>
          <p:cNvPr id="41" name="Text 33"/>
          <p:cNvSpPr/>
          <p:nvPr/>
        </p:nvSpPr>
        <p:spPr>
          <a:xfrm>
            <a:off x="8823960" y="397764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1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/admin/payouts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8229600" y="438912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Manager only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548640" y="50292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822960" y="5230368"/>
            <a:ext cx="502920" cy="50292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45" name="Image 6" descr="/home/claude/lumen/icons/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661" y="5351069"/>
            <a:ext cx="261518" cy="26151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508760" y="5193792"/>
            <a:ext cx="9784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badge.  </a:t>
            </a:r>
            <a:r>
              <a:rPr lang="en-US" sz="120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Sales nav item shows a red badge counting new sales since the creator last visited — powered by profile.last_viewed_sales_at.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548640" y="619963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1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Files: AdminLayout.jsx · AdminDashboardPage.jsx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product lifecycle (CRUD)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1C1E3C"/>
          </a:solidFill>
          <a:ln w="12700">
            <a:solidFill>
              <a:srgbClr val="F2B70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700784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/admin/products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21408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all (table)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0" y="1554480"/>
            <a:ext cx="182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1C1E3C"/>
          </a:solidFill>
          <a:ln w="12700">
            <a:solidFill>
              <a:srgbClr val="F2B70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700784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/admin/products/new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2121408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new (form)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63840" y="1554480"/>
            <a:ext cx="182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1C1E3C"/>
          </a:solidFill>
          <a:ln w="12700">
            <a:solidFill>
              <a:srgbClr val="F2B70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1700784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/admin/products/:id/edit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2121408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existing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86384" y="3118104"/>
            <a:ext cx="502920" cy="50292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9" name="Image 0" descr="/home/claude/lumen/icons/settin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3238805"/>
            <a:ext cx="261518" cy="26151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44752" y="3154680"/>
            <a:ext cx="4343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ProductForm Fields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22960" y="3886200"/>
            <a:ext cx="489204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Title, Description, Type (movie/book/manga/comic)</a:t>
            </a:r>
            <a:endParaRPr lang="en-US" sz="125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Price, Cover Image URL</a:t>
            </a:r>
            <a:endParaRPr lang="en-US" sz="125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Genres (multi-select)</a:t>
            </a:r>
            <a:endParaRPr lang="en-US" sz="125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Archive.org ID (for book reader embeds)</a:t>
            </a:r>
            <a:endParaRPr lang="en-US" sz="125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isPublicDomain flag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190488" y="288036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28232" y="3118104"/>
            <a:ext cx="502920" cy="50292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4" name="Image 1" descr="/home/claude/lumen/icons/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3238805"/>
            <a:ext cx="261518" cy="26151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086600" y="3154680"/>
            <a:ext cx="4343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ProductTable Features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464808" y="3886200"/>
            <a:ext cx="489204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all admin-uploaded products</a:t>
            </a:r>
            <a:endParaRPr lang="en-US" sz="125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edit / delete actions</a:t>
            </a:r>
            <a:endParaRPr lang="en-US" sz="125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 to Supabase products table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&amp; EARNINGS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Turning activity into insight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773936"/>
            <a:ext cx="502920" cy="50292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8" name="Image 0" descr="/home/claude/lumen/icons/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7" y="1894637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26464" y="1810512"/>
            <a:ext cx="2423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Sales Page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2514600"/>
            <a:ext cx="2971800" cy="2148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each product sold by the creator</a:t>
            </a:r>
            <a:endParaRPr lang="en-US" sz="1150" dirty="0"/>
          </a:p>
          <a:p>
            <a:pPr marL="177800" indent="-1778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total units sold + total coins earned</a:t>
            </a:r>
            <a:endParaRPr lang="en-US" sz="1150" dirty="0"/>
          </a:p>
          <a:p>
            <a:pPr marL="177800" indent="-1778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Expandable rows reveal recent buyers with timestamps</a:t>
            </a:r>
            <a:endParaRPr lang="en-US" sz="1150" dirty="0"/>
          </a:p>
          <a:p>
            <a:pPr marL="177800" indent="-1778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Manager toggle: “My Sales” vs “All Sales”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155448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71416" y="1773936"/>
            <a:ext cx="502920" cy="50292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3" name="Image 1" descr="/home/claude/lumen/icons/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117" y="1894637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9784" y="1810512"/>
            <a:ext cx="2423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Earnings Page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26280" y="2514600"/>
            <a:ext cx="2971800" cy="2148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creator's current coin balance</a:t>
            </a:r>
            <a:endParaRPr lang="en-US" sz="1150" dirty="0"/>
          </a:p>
          <a:p>
            <a:pPr marL="177800" indent="-1778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Payout request form — coins → ₦ equivalent (1 coin = ₦5)</a:t>
            </a:r>
            <a:endParaRPr lang="en-US" sz="1150" dirty="0"/>
          </a:p>
          <a:p>
            <a:pPr marL="177800" indent="-1778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payout history: pending / approved / rejected</a:t>
            </a:r>
            <a:endParaRPr lang="en-US" sz="1150" dirty="0"/>
          </a:p>
          <a:p>
            <a:pPr marL="177800" indent="-1778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Manager reviews via /admin/payouts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55280" y="1554480"/>
            <a:ext cx="4233672" cy="3246120"/>
          </a:xfrm>
          <a:prstGeom prst="roundRect">
            <a:avLst>
              <a:gd name="adj" fmla="val 2535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193024" y="1737360"/>
            <a:ext cx="3520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Earnings Chart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193024" y="2066544"/>
            <a:ext cx="3794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Recharts — visual line/bar chart of earnings over time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8138160" y="2606040"/>
          <a:ext cx="38862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Text 15"/>
          <p:cNvSpPr/>
          <p:nvPr/>
        </p:nvSpPr>
        <p:spPr>
          <a:xfrm>
            <a:off x="548640" y="619963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1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Files: SalesPage.jsx · EarningsPage.jsx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UI COMPONENT LIBRARY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Built once, reused everywhere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2670048" cy="1353312"/>
          </a:xfrm>
          <a:prstGeom prst="roundRect">
            <a:avLst>
              <a:gd name="adj" fmla="val 6081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700784"/>
            <a:ext cx="402336" cy="402336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8" name="Image 0" descr="/home/claude/lumen/icons/st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793" y="1797345"/>
            <a:ext cx="209215" cy="2092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2176272"/>
            <a:ext cx="23408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HeroBanner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3232" y="2450592"/>
            <a:ext cx="234086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Auto-rotating hero with featured items + CTAs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3364992" y="1536192"/>
            <a:ext cx="2670048" cy="1353312"/>
          </a:xfrm>
          <a:prstGeom prst="roundRect">
            <a:avLst>
              <a:gd name="adj" fmla="val 6081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9584" y="1700784"/>
            <a:ext cx="402336" cy="402336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3" name="Image 1" descr="/home/claude/lumen/icons/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145" y="1797345"/>
            <a:ext cx="209215" cy="2092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9584" y="2176272"/>
            <a:ext cx="23408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MediaRail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529584" y="2450592"/>
            <a:ext cx="234086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Horizontal scrollable row of media cards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6181344" y="1536192"/>
            <a:ext cx="2670048" cy="1353312"/>
          </a:xfrm>
          <a:prstGeom prst="roundRect">
            <a:avLst>
              <a:gd name="adj" fmla="val 6081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45936" y="1700784"/>
            <a:ext cx="402336" cy="402336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8" name="Image 2" descr="/home/claude/lumen/icon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497" y="1797345"/>
            <a:ext cx="209215" cy="2092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5936" y="2176272"/>
            <a:ext cx="23408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ContinueRail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345936" y="2450592"/>
            <a:ext cx="234086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Progress-aware “Continue” section</a:t>
            </a:r>
            <a:endParaRPr lang="en-US" sz="880" dirty="0"/>
          </a:p>
        </p:txBody>
      </p:sp>
      <p:sp>
        <p:nvSpPr>
          <p:cNvPr id="21" name="Shape 16"/>
          <p:cNvSpPr/>
          <p:nvPr/>
        </p:nvSpPr>
        <p:spPr>
          <a:xfrm>
            <a:off x="8997696" y="1536192"/>
            <a:ext cx="2670048" cy="1353312"/>
          </a:xfrm>
          <a:prstGeom prst="roundRect">
            <a:avLst>
              <a:gd name="adj" fmla="val 6081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62288" y="1700784"/>
            <a:ext cx="402336" cy="402336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3" name="Image 3" descr="/home/claude/lumen/icons/fil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849" y="1797345"/>
            <a:ext cx="209215" cy="20921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62288" y="2176272"/>
            <a:ext cx="23408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MediaCard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9162288" y="2450592"/>
            <a:ext cx="234086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card with hover effects</a:t>
            </a:r>
            <a:endParaRPr lang="en-US" sz="880" dirty="0"/>
          </a:p>
        </p:txBody>
      </p:sp>
      <p:sp>
        <p:nvSpPr>
          <p:cNvPr id="26" name="Shape 20"/>
          <p:cNvSpPr/>
          <p:nvPr/>
        </p:nvSpPr>
        <p:spPr>
          <a:xfrm>
            <a:off x="548640" y="3035808"/>
            <a:ext cx="2670048" cy="1353312"/>
          </a:xfrm>
          <a:prstGeom prst="roundRect">
            <a:avLst>
              <a:gd name="adj" fmla="val 6081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13232" y="3200400"/>
            <a:ext cx="402336" cy="402336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8" name="Image 4" descr="/home/claude/lumen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93" y="3296961"/>
            <a:ext cx="209215" cy="20921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3232" y="3675888"/>
            <a:ext cx="23408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SkeletonCard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713232" y="3950208"/>
            <a:ext cx="234086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Loading placeholder matching MediaCard</a:t>
            </a:r>
            <a:endParaRPr lang="en-US" sz="880" dirty="0"/>
          </a:p>
        </p:txBody>
      </p:sp>
      <p:sp>
        <p:nvSpPr>
          <p:cNvPr id="31" name="Shape 24"/>
          <p:cNvSpPr/>
          <p:nvPr/>
        </p:nvSpPr>
        <p:spPr>
          <a:xfrm>
            <a:off x="3364992" y="3035808"/>
            <a:ext cx="2670048" cy="1353312"/>
          </a:xfrm>
          <a:prstGeom prst="roundRect">
            <a:avLst>
              <a:gd name="adj" fmla="val 6081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529584" y="3200400"/>
            <a:ext cx="402336" cy="402336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3" name="Image 5" descr="/home/claude/lumen/icons/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6145" y="3296961"/>
            <a:ext cx="209215" cy="20921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529584" y="3675888"/>
            <a:ext cx="23408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Toast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3529584" y="3950208"/>
            <a:ext cx="234086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Non-blocking success / error / info messages</a:t>
            </a:r>
            <a:endParaRPr lang="en-US" sz="880" dirty="0"/>
          </a:p>
        </p:txBody>
      </p:sp>
      <p:sp>
        <p:nvSpPr>
          <p:cNvPr id="36" name="Shape 28"/>
          <p:cNvSpPr/>
          <p:nvPr/>
        </p:nvSpPr>
        <p:spPr>
          <a:xfrm>
            <a:off x="6181344" y="3035808"/>
            <a:ext cx="2670048" cy="1353312"/>
          </a:xfrm>
          <a:prstGeom prst="roundRect">
            <a:avLst>
              <a:gd name="adj" fmla="val 6081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345936" y="3200400"/>
            <a:ext cx="402336" cy="402336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8" name="Image 6" descr="/home/claude/lumen/icons/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2497" y="3296961"/>
            <a:ext cx="209215" cy="20921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345936" y="3675888"/>
            <a:ext cx="23408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EmptyState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6345936" y="3950208"/>
            <a:ext cx="234086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Friendly empty page state with CTA</a:t>
            </a:r>
            <a:endParaRPr lang="en-US" sz="880" dirty="0"/>
          </a:p>
        </p:txBody>
      </p:sp>
      <p:sp>
        <p:nvSpPr>
          <p:cNvPr id="41" name="Shape 32"/>
          <p:cNvSpPr/>
          <p:nvPr/>
        </p:nvSpPr>
        <p:spPr>
          <a:xfrm>
            <a:off x="8997696" y="3035808"/>
            <a:ext cx="2670048" cy="1353312"/>
          </a:xfrm>
          <a:prstGeom prst="roundRect">
            <a:avLst>
              <a:gd name="adj" fmla="val 6081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9162288" y="3200400"/>
            <a:ext cx="402336" cy="402336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43" name="Image 7" descr="/home/claude/lumen/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8849" y="3296961"/>
            <a:ext cx="209215" cy="209215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162288" y="3675888"/>
            <a:ext cx="23408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Badge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9162288" y="3950208"/>
            <a:ext cx="234086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chip — success / warning / danger</a:t>
            </a:r>
            <a:endParaRPr lang="en-US" sz="880" dirty="0"/>
          </a:p>
        </p:txBody>
      </p:sp>
      <p:sp>
        <p:nvSpPr>
          <p:cNvPr id="46" name="Shape 36"/>
          <p:cNvSpPr/>
          <p:nvPr/>
        </p:nvSpPr>
        <p:spPr>
          <a:xfrm>
            <a:off x="548640" y="4535424"/>
            <a:ext cx="2670048" cy="1353312"/>
          </a:xfrm>
          <a:prstGeom prst="roundRect">
            <a:avLst>
              <a:gd name="adj" fmla="val 6081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713232" y="4700016"/>
            <a:ext cx="402336" cy="402336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48" name="Image 8" descr="/home/claude/lumen/icons/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793" y="4796577"/>
            <a:ext cx="209215" cy="209215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13232" y="5175504"/>
            <a:ext cx="23408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ConfirmDialog</a:t>
            </a:r>
            <a:endParaRPr lang="en-US" sz="1150" dirty="0"/>
          </a:p>
        </p:txBody>
      </p:sp>
      <p:sp>
        <p:nvSpPr>
          <p:cNvPr id="50" name="Text 39"/>
          <p:cNvSpPr/>
          <p:nvPr/>
        </p:nvSpPr>
        <p:spPr>
          <a:xfrm>
            <a:off x="713232" y="5449824"/>
            <a:ext cx="234086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Reusable confirmation modal</a:t>
            </a:r>
            <a:endParaRPr lang="en-US" sz="880" dirty="0"/>
          </a:p>
        </p:txBody>
      </p:sp>
      <p:sp>
        <p:nvSpPr>
          <p:cNvPr id="51" name="Shape 40"/>
          <p:cNvSpPr/>
          <p:nvPr/>
        </p:nvSpPr>
        <p:spPr>
          <a:xfrm>
            <a:off x="3364992" y="4535424"/>
            <a:ext cx="2670048" cy="1353312"/>
          </a:xfrm>
          <a:prstGeom prst="roundRect">
            <a:avLst>
              <a:gd name="adj" fmla="val 6081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3529584" y="4700016"/>
            <a:ext cx="402336" cy="402336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53" name="Image 9" descr="/home/claude/lumen/icons/aw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6145" y="4796577"/>
            <a:ext cx="209215" cy="209215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3529584" y="5175504"/>
            <a:ext cx="23408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Logo</a:t>
            </a:r>
            <a:endParaRPr lang="en-US" sz="1150" dirty="0"/>
          </a:p>
        </p:txBody>
      </p:sp>
      <p:sp>
        <p:nvSpPr>
          <p:cNvPr id="55" name="Text 43"/>
          <p:cNvSpPr/>
          <p:nvPr/>
        </p:nvSpPr>
        <p:spPr>
          <a:xfrm>
            <a:off x="3529584" y="5449824"/>
            <a:ext cx="234086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Brand logo component</a:t>
            </a:r>
            <a:endParaRPr lang="en-US" sz="880" dirty="0"/>
          </a:p>
        </p:txBody>
      </p:sp>
      <p:sp>
        <p:nvSpPr>
          <p:cNvPr id="56" name="Shape 44"/>
          <p:cNvSpPr/>
          <p:nvPr/>
        </p:nvSpPr>
        <p:spPr>
          <a:xfrm>
            <a:off x="6181344" y="4535424"/>
            <a:ext cx="2670048" cy="1353312"/>
          </a:xfrm>
          <a:prstGeom prst="roundRect">
            <a:avLst>
              <a:gd name="adj" fmla="val 6081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57" name="Shape 45"/>
          <p:cNvSpPr/>
          <p:nvPr/>
        </p:nvSpPr>
        <p:spPr>
          <a:xfrm>
            <a:off x="6345936" y="4700016"/>
            <a:ext cx="402336" cy="402336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58" name="Image 10" descr="/home/claude/lumen/icons/rou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2497" y="4796577"/>
            <a:ext cx="209215" cy="209215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6345936" y="5175504"/>
            <a:ext cx="23408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1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PageTransitionWrapper</a:t>
            </a:r>
            <a:endParaRPr lang="en-US" sz="1150" dirty="0"/>
          </a:p>
        </p:txBody>
      </p:sp>
      <p:sp>
        <p:nvSpPr>
          <p:cNvPr id="60" name="Text 47"/>
          <p:cNvSpPr/>
          <p:nvPr/>
        </p:nvSpPr>
        <p:spPr>
          <a:xfrm>
            <a:off x="6345936" y="5449824"/>
            <a:ext cx="234086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Animated page transitions</a:t>
            </a:r>
            <a:endParaRPr lang="en-US" sz="8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SUPABASE DATABASE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tables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63677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8" name="Image 0" descr="/home/claude/lumen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099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581912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profiles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1837944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Extended user data: username, role, status, last_viewed_sales_at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90488" y="150876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18504" y="163677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13" name="Image 1" descr="/home/claude/lumen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56" y="170992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30568" y="1581912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830568" y="1837944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Admin-created media products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228600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76656" y="241401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18" name="Image 2" descr="/home/claude/lumen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87168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359152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purchases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88720" y="2615184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purchase records + reading progress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190488" y="228600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18504" y="241401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23" name="Image 3" descr="/home/claude/lumen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56" y="2487168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30568" y="2359152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830568" y="2615184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Shopping cart items per user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48640" y="306324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76656" y="319125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28" name="Image 4" descr="/home/claude/lumen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264408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3136392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wishlist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188720" y="3392424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Saved items per user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190488" y="306324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318504" y="319125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33" name="Image 5" descr="/home/claude/lumen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56" y="3264408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30568" y="3136392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coins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830568" y="3392424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coin balances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548640" y="384048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76656" y="396849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38" name="Image 6" descr="/home/claude/lumen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041648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188720" y="3913632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coin_purchases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1188720" y="4169664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Paystack payment records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6190488" y="384048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6318504" y="396849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43" name="Image 7" descr="/home/claude/lumen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56" y="4041648"/>
            <a:ext cx="256032" cy="25603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830568" y="3913632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sales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6830568" y="4169664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per product per creator</a:t>
            </a:r>
            <a:endParaRPr lang="en-US" sz="950" dirty="0"/>
          </a:p>
        </p:txBody>
      </p:sp>
      <p:sp>
        <p:nvSpPr>
          <p:cNvPr id="46" name="Shape 36"/>
          <p:cNvSpPr/>
          <p:nvPr/>
        </p:nvSpPr>
        <p:spPr>
          <a:xfrm>
            <a:off x="548640" y="461772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676656" y="47457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48" name="Image 8" descr="/home/claude/lumen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818888"/>
            <a:ext cx="256032" cy="256032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1188720" y="4690872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payouts</a:t>
            </a:r>
            <a:endParaRPr lang="en-US" sz="1200" dirty="0"/>
          </a:p>
        </p:txBody>
      </p:sp>
      <p:sp>
        <p:nvSpPr>
          <p:cNvPr id="50" name="Text 39"/>
          <p:cNvSpPr/>
          <p:nvPr/>
        </p:nvSpPr>
        <p:spPr>
          <a:xfrm>
            <a:off x="1188720" y="4946904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Payout request records with status</a:t>
            </a:r>
            <a:endParaRPr lang="en-US" sz="950" dirty="0"/>
          </a:p>
        </p:txBody>
      </p:sp>
      <p:sp>
        <p:nvSpPr>
          <p:cNvPr id="51" name="Shape 40"/>
          <p:cNvSpPr/>
          <p:nvPr/>
        </p:nvSpPr>
        <p:spPr>
          <a:xfrm>
            <a:off x="6190488" y="461772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6318504" y="47457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53" name="Image 9" descr="/home/claude/lumen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56" y="4818888"/>
            <a:ext cx="256032" cy="256032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830568" y="4690872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reviews</a:t>
            </a:r>
            <a:endParaRPr lang="en-US" sz="1200" dirty="0"/>
          </a:p>
        </p:txBody>
      </p:sp>
      <p:sp>
        <p:nvSpPr>
          <p:cNvPr id="55" name="Text 43"/>
          <p:cNvSpPr/>
          <p:nvPr/>
        </p:nvSpPr>
        <p:spPr>
          <a:xfrm>
            <a:off x="6830568" y="4946904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reviews — ratings &amp; comments</a:t>
            </a:r>
            <a:endParaRPr lang="en-US" sz="950" dirty="0"/>
          </a:p>
        </p:txBody>
      </p:sp>
      <p:sp>
        <p:nvSpPr>
          <p:cNvPr id="56" name="Shape 44"/>
          <p:cNvSpPr/>
          <p:nvPr/>
        </p:nvSpPr>
        <p:spPr>
          <a:xfrm>
            <a:off x="548640" y="539496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57" name="Shape 45"/>
          <p:cNvSpPr/>
          <p:nvPr/>
        </p:nvSpPr>
        <p:spPr>
          <a:xfrm>
            <a:off x="676656" y="552297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58" name="Image 10" descr="/home/claude/lumen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596128"/>
            <a:ext cx="256032" cy="256032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1188720" y="5468112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story_groups</a:t>
            </a:r>
            <a:endParaRPr lang="en-US" sz="1200" dirty="0"/>
          </a:p>
        </p:txBody>
      </p:sp>
      <p:sp>
        <p:nvSpPr>
          <p:cNvPr id="60" name="Text 47"/>
          <p:cNvSpPr/>
          <p:nvPr/>
        </p:nvSpPr>
        <p:spPr>
          <a:xfrm>
            <a:off x="1188720" y="5724144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Adaptation bridge — links related formats</a:t>
            </a:r>
            <a:endParaRPr lang="en-US" sz="950" dirty="0"/>
          </a:p>
        </p:txBody>
      </p:sp>
      <p:sp>
        <p:nvSpPr>
          <p:cNvPr id="61" name="Shape 48"/>
          <p:cNvSpPr/>
          <p:nvPr/>
        </p:nvSpPr>
        <p:spPr>
          <a:xfrm>
            <a:off x="6190488" y="539496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62" name="Shape 49"/>
          <p:cNvSpPr/>
          <p:nvPr/>
        </p:nvSpPr>
        <p:spPr>
          <a:xfrm>
            <a:off x="6318504" y="552297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B0B16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63" name="Image 11" descr="/home/claude/lumen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56" y="5596128"/>
            <a:ext cx="256032" cy="256032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6830568" y="5468112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15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staff_applications</a:t>
            </a:r>
            <a:endParaRPr lang="en-US" sz="1200" dirty="0"/>
          </a:p>
        </p:txBody>
      </p:sp>
      <p:sp>
        <p:nvSpPr>
          <p:cNvPr id="65" name="Text 51"/>
          <p:cNvSpPr/>
          <p:nvPr/>
        </p:nvSpPr>
        <p:spPr>
          <a:xfrm>
            <a:off x="6830568" y="5724144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application form submissions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TECHNICAL HIGHLIGHTS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Standout implementation details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87068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8" name="Image 0" descr="/home/claude/lumen/icons/rou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9679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572768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Infinite Scroll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325880" y="1847088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useInfiniteScroll + IntersectionObserver on a sentinel div — paginates Browse without user interaction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190488" y="1481328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55080" y="1687068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3" name="Image 1" descr="/home/claude/lumen/icons/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79679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67728" y="1572768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 Caching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967728" y="1847088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 API responses cached in localStorage with TTL, preventing redundant fetches on navigation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548640" y="2459736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3232" y="2665476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8" name="Image 2" descr="/home/claude/lumen/icons/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7520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2551176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Adaptive Coin Pricing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325880" y="2825496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convertToCoins() normalizes product prices to in-app currency with a consistent exchange rate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6190488" y="2459736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55080" y="2665476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3" name="Image 3" descr="/home/claude/lumen/icons/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2775204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67728" y="2551176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Adaptation Bridge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967728" y="2825496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story_groups links a manga to its movie adaptation, surfacing cross-format recommendations</a:t>
            </a:r>
            <a:endParaRPr lang="en-US" sz="980" dirty="0"/>
          </a:p>
        </p:txBody>
      </p:sp>
      <p:sp>
        <p:nvSpPr>
          <p:cNvPr id="26" name="Shape 20"/>
          <p:cNvSpPr/>
          <p:nvPr/>
        </p:nvSpPr>
        <p:spPr>
          <a:xfrm>
            <a:off x="548640" y="3438144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13232" y="3643884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8" name="Image 4" descr="/home/claude/lumen/icons/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53612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25880" y="3529584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Serverless Verification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1325880" y="3803904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Paystack webhook verification runs as a Vercel Edge Function to prevent client-side fraud</a:t>
            </a:r>
            <a:endParaRPr lang="en-US" sz="980" dirty="0"/>
          </a:p>
        </p:txBody>
      </p:sp>
      <p:sp>
        <p:nvSpPr>
          <p:cNvPr id="31" name="Shape 24"/>
          <p:cNvSpPr/>
          <p:nvPr/>
        </p:nvSpPr>
        <p:spPr>
          <a:xfrm>
            <a:off x="6190488" y="3438144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355080" y="3643884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3" name="Image 5" descr="/home/claude/lumen/icons/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3753612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67728" y="3529584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 Sales Badge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967728" y="3803904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Sidebar compares last_viewed_sales_at against new purchases to show an unread-sales count</a:t>
            </a:r>
            <a:endParaRPr lang="en-US" sz="980" dirty="0"/>
          </a:p>
        </p:txBody>
      </p:sp>
      <p:sp>
        <p:nvSpPr>
          <p:cNvPr id="36" name="Shape 28"/>
          <p:cNvSpPr/>
          <p:nvPr/>
        </p:nvSpPr>
        <p:spPr>
          <a:xfrm>
            <a:off x="548640" y="4416552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13232" y="4622292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38" name="Image 6" descr="/home/claude/lumen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32020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325880" y="4507992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15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Account Status Guard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1325880" y="4782312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login, profile.status is checked; suspended accounts are signed out with a clear error</a:t>
            </a:r>
            <a:endParaRPr lang="en-US" sz="9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ROUTES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Full route 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4160520" cy="4709160"/>
          </a:xfrm>
          <a:prstGeom prst="roundRect">
            <a:avLst>
              <a:gd name="adj" fmla="val 1978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755648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8" name="Image 0" descr="/home/claude/lumen/icons/glo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6537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755648"/>
            <a:ext cx="3200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Public — StorefrontLayout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4672" y="2395728"/>
            <a:ext cx="3657600" cy="3703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/browse/:type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/product/:type/:id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/search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/cart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/wishlist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/library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/watch/:id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/receipt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/top-up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/settings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/apply-staff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 about, careers, contact, faq, legal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1536192"/>
            <a:ext cx="3063240" cy="4709160"/>
          </a:xfrm>
          <a:prstGeom prst="roundRect">
            <a:avLst>
              <a:gd name="adj" fmla="val 2687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65776" y="1755648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3" name="Image 1" descr="/home/claude/lumen/icons/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86537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755648"/>
            <a:ext cx="2103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Auth — MinimalLayout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102352" y="2395728"/>
            <a:ext cx="2560320" cy="3703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/login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/signup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46720" y="1536192"/>
            <a:ext cx="3867912" cy="4709160"/>
          </a:xfrm>
          <a:prstGeom prst="roundRect">
            <a:avLst>
              <a:gd name="adj" fmla="val 2128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66176" y="1755648"/>
            <a:ext cx="457200" cy="45720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8" name="Image 2" descr="/home/claude/lumen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186537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23960" y="1755648"/>
            <a:ext cx="290779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— Role Protected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302752" y="2395728"/>
            <a:ext cx="3364992" cy="3703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/admin/products (+new, :id/edit)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/admin/sales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/admin/earnings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/admin/staff (manager)</a:t>
            </a:r>
            <a:endParaRPr lang="en-US" sz="1000" dirty="0"/>
          </a:p>
          <a:p>
            <a:pPr marL="152400" indent="-152400">
              <a:lnSpc>
                <a:spcPct val="140000"/>
              </a:lnSpc>
              <a:buSzPct val="100000"/>
              <a:buChar char="‣"/>
            </a:pPr>
            <a:r>
              <a:rPr lang="en-US" sz="1000" dirty="0">
                <a:solidFill>
                  <a:srgbClr val="9A9DC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/admin/payouts (manager)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Engineering trade-offs along the 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0876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external APIs, different data shapes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89320" y="1508760"/>
            <a:ext cx="457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92240" y="1508760"/>
            <a:ext cx="5148072" cy="777240"/>
          </a:xfrm>
          <a:prstGeom prst="roundRect">
            <a:avLst>
              <a:gd name="adj" fmla="val 10588"/>
            </a:avLst>
          </a:prstGeom>
          <a:solidFill>
            <a:srgbClr val="1C1E3C"/>
          </a:solidFill>
          <a:ln w="12700">
            <a:solidFill>
              <a:srgbClr val="3A3E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508760"/>
            <a:ext cx="4800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Unified getMediaByType() normalizer mapping every source to one interface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7744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Preventing re-fetching on every page visit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89320" y="2377440"/>
            <a:ext cx="457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240" y="2377440"/>
            <a:ext cx="5148072" cy="777240"/>
          </a:xfrm>
          <a:prstGeom prst="roundRect">
            <a:avLst>
              <a:gd name="adj" fmla="val 10588"/>
            </a:avLst>
          </a:prstGeom>
          <a:solidFill>
            <a:srgbClr val="1C1E3C"/>
          </a:solidFill>
          <a:ln w="12700">
            <a:solidFill>
              <a:srgbClr val="3A3E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377440"/>
            <a:ext cx="4800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localStorage cache layer with TTL keys per media type + page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4612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payment processing in a student project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89320" y="3246120"/>
            <a:ext cx="457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3246120"/>
            <a:ext cx="5148072" cy="777240"/>
          </a:xfrm>
          <a:prstGeom prst="roundRect">
            <a:avLst>
              <a:gd name="adj" fmla="val 10588"/>
            </a:avLst>
          </a:prstGeom>
          <a:solidFill>
            <a:srgbClr val="1C1E3C"/>
          </a:solidFill>
          <a:ln w="12700">
            <a:solidFill>
              <a:srgbClr val="3A3E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3246120"/>
            <a:ext cx="4800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Paystack test mode + Vercel serverless function for server-side verification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1480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routing without backend middleware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89320" y="4114800"/>
            <a:ext cx="457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4114800"/>
            <a:ext cx="5148072" cy="777240"/>
          </a:xfrm>
          <a:prstGeom prst="roundRect">
            <a:avLst>
              <a:gd name="adj" fmla="val 10588"/>
            </a:avLst>
          </a:prstGeom>
          <a:solidFill>
            <a:srgbClr val="1C1E3C"/>
          </a:solidFill>
          <a:ln w="12700">
            <a:solidFill>
              <a:srgbClr val="3A3E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4114800"/>
            <a:ext cx="4800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Client-side RoleGuard reads Supabase profile role and redirects on violation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98348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Keeping cart / coins / wishlist in sync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89320" y="4983480"/>
            <a:ext cx="457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92240" y="4983480"/>
            <a:ext cx="5148072" cy="777240"/>
          </a:xfrm>
          <a:prstGeom prst="roundRect">
            <a:avLst>
              <a:gd name="adj" fmla="val 10588"/>
            </a:avLst>
          </a:prstGeom>
          <a:solidFill>
            <a:srgbClr val="1C1E3C"/>
          </a:solidFill>
          <a:ln w="12700">
            <a:solidFill>
              <a:srgbClr val="3A3E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4983480"/>
            <a:ext cx="4800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StorefrontContext with refresh*() calls after every mutation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85216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85216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public-domain books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989320" y="5852160"/>
            <a:ext cx="457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92240" y="5852160"/>
            <a:ext cx="5148072" cy="777240"/>
          </a:xfrm>
          <a:prstGeom prst="roundRect">
            <a:avLst>
              <a:gd name="adj" fmla="val 10588"/>
            </a:avLst>
          </a:prstGeom>
          <a:solidFill>
            <a:srgbClr val="1C1E3C"/>
          </a:solidFill>
          <a:ln w="12700">
            <a:solidFill>
              <a:srgbClr val="3A3E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93408" y="5852160"/>
            <a:ext cx="4800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 Archive iframe embed linked via archiveId per product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Suggested live-walkthrough order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795528"/>
          </a:xfrm>
          <a:prstGeom prst="roundRect">
            <a:avLst>
              <a:gd name="adj" fmla="val 1034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705356"/>
            <a:ext cx="402336" cy="402336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05356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508760"/>
            <a:ext cx="457200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Homepage — Hero Banner, ContinueRail, Media Rails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1508760"/>
            <a:ext cx="5440680" cy="795528"/>
          </a:xfrm>
          <a:prstGeom prst="roundRect">
            <a:avLst>
              <a:gd name="adj" fmla="val 1034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705356"/>
            <a:ext cx="402336" cy="402336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705356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85432" y="1508760"/>
            <a:ext cx="457200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— filter by genre + rating, infinite scroll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432304"/>
            <a:ext cx="5440680" cy="795528"/>
          </a:xfrm>
          <a:prstGeom prst="roundRect">
            <a:avLst>
              <a:gd name="adj" fmla="val 1034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628900"/>
            <a:ext cx="402336" cy="402336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628900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43584" y="2432304"/>
            <a:ext cx="457200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Detail — coin price, wishlist, Adaptation Bridge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0488" y="2432304"/>
            <a:ext cx="5440680" cy="795528"/>
          </a:xfrm>
          <a:prstGeom prst="roundRect">
            <a:avLst>
              <a:gd name="adj" fmla="val 1034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2628900"/>
            <a:ext cx="402336" cy="402336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628900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85432" y="2432304"/>
            <a:ext cx="457200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Top-Up — Bronze/Gold/Diamond packages (Paystack modal)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355848"/>
            <a:ext cx="5440680" cy="795528"/>
          </a:xfrm>
          <a:prstGeom prst="roundRect">
            <a:avLst>
              <a:gd name="adj" fmla="val 1034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552444"/>
            <a:ext cx="402336" cy="402336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552444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43584" y="3355848"/>
            <a:ext cx="457200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Cart &amp; Checkout — order summary, coin balance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90488" y="3355848"/>
            <a:ext cx="5440680" cy="795528"/>
          </a:xfrm>
          <a:prstGeom prst="roundRect">
            <a:avLst>
              <a:gd name="adj" fmla="val 1034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3552444"/>
            <a:ext cx="402336" cy="402336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552444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85432" y="3355848"/>
            <a:ext cx="457200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Library — purchased items, Watch / Preview access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279392"/>
            <a:ext cx="5440680" cy="795528"/>
          </a:xfrm>
          <a:prstGeom prst="roundRect">
            <a:avLst>
              <a:gd name="adj" fmla="val 1034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4475988"/>
            <a:ext cx="402336" cy="402336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475988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43584" y="4279392"/>
            <a:ext cx="457200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Login — switch to staff account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0488" y="4279392"/>
            <a:ext cx="5440680" cy="795528"/>
          </a:xfrm>
          <a:prstGeom prst="roundRect">
            <a:avLst>
              <a:gd name="adj" fmla="val 1034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4475988"/>
            <a:ext cx="402336" cy="402336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4475988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85432" y="4279392"/>
            <a:ext cx="457200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Dashboard — stat cards + Earnings Chart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202936"/>
            <a:ext cx="5440680" cy="795528"/>
          </a:xfrm>
          <a:prstGeom prst="roundRect">
            <a:avLst>
              <a:gd name="adj" fmla="val 1034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" y="5399532"/>
            <a:ext cx="402336" cy="402336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5399532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243584" y="5202936"/>
            <a:ext cx="457200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Management — create a product via form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90488" y="5202936"/>
            <a:ext cx="5440680" cy="795528"/>
          </a:xfrm>
          <a:prstGeom prst="roundRect">
            <a:avLst>
              <a:gd name="adj" fmla="val 1034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5080" y="5399532"/>
            <a:ext cx="402336" cy="402336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5399532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885432" y="5202936"/>
            <a:ext cx="457200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Tracker — expand a row to see buyers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6126480"/>
            <a:ext cx="5440680" cy="795528"/>
          </a:xfrm>
          <a:prstGeom prst="roundRect">
            <a:avLst>
              <a:gd name="adj" fmla="val 10345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3232" y="6323076"/>
            <a:ext cx="402336" cy="402336"/>
          </a:xfrm>
          <a:prstGeom prst="ellipse">
            <a:avLst/>
          </a:prstGeom>
          <a:solidFill>
            <a:srgbClr val="0B0B16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6323076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243584" y="6126480"/>
            <a:ext cx="4572000" cy="795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Earnings — request a coin payout, view history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858000" cy="6858000"/>
          </a:xfrm>
          <a:prstGeom prst="ellipse">
            <a:avLst/>
          </a:prstGeom>
          <a:solidFill>
            <a:srgbClr val="F2B705">
              <a:alpha val="9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011680" y="4754880"/>
            <a:ext cx="5943600" cy="5943600"/>
          </a:xfrm>
          <a:prstGeom prst="ellipse">
            <a:avLst/>
          </a:prstGeom>
          <a:solidFill>
            <a:srgbClr val="3A3F8F">
              <a:alpha val="14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LEARNINGS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this project demonstrates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309360" cy="3977640"/>
          </a:xfrm>
          <a:prstGeom prst="roundRect">
            <a:avLst>
              <a:gd name="adj" fmla="val 2069"/>
            </a:avLst>
          </a:prstGeom>
          <a:solidFill>
            <a:srgbClr val="15172E"/>
          </a:solidFill>
          <a:ln w="12700">
            <a:solidFill>
              <a:srgbClr val="2B2E5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810512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566928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28600" indent="-228600">
              <a:lnSpc>
                <a:spcPct val="155000"/>
              </a:lnSpc>
              <a:buSzPct val="100000"/>
              <a:buChar char="✓"/>
            </a:pPr>
            <a:r>
              <a:rPr lang="en-US" sz="12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19 — useTransition &amp; useOptimistic patterns</a:t>
            </a:r>
            <a:endParaRPr lang="en-US" sz="1250" dirty="0"/>
          </a:p>
          <a:p>
            <a:pPr marL="228600" indent="-228600">
              <a:lnSpc>
                <a:spcPct val="155000"/>
              </a:lnSpc>
              <a:buSzPct val="100000"/>
              <a:buChar char="✓"/>
            </a:pPr>
            <a:r>
              <a:rPr lang="en-US" sz="12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Real-world, feature-sliced, scalable architecture</a:t>
            </a:r>
            <a:endParaRPr lang="en-US" sz="1250" dirty="0"/>
          </a:p>
          <a:p>
            <a:pPr marL="228600" indent="-228600">
              <a:lnSpc>
                <a:spcPct val="155000"/>
              </a:lnSpc>
              <a:buSzPct val="100000"/>
              <a:buChar char="✓"/>
            </a:pPr>
            <a:r>
              <a:rPr lang="en-US" sz="12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Full-stack thinking — Supabase BaaS with RLS</a:t>
            </a:r>
            <a:endParaRPr lang="en-US" sz="1250" dirty="0"/>
          </a:p>
          <a:p>
            <a:pPr marL="228600" indent="-228600">
              <a:lnSpc>
                <a:spcPct val="155000"/>
              </a:lnSpc>
              <a:buSzPct val="100000"/>
              <a:buChar char="✓"/>
            </a:pPr>
            <a:r>
              <a:rPr lang="en-US" sz="12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third-party APIs normalized into one interface</a:t>
            </a:r>
            <a:endParaRPr lang="en-US" sz="1250" dirty="0"/>
          </a:p>
          <a:p>
            <a:pPr marL="228600" indent="-228600">
              <a:lnSpc>
                <a:spcPct val="155000"/>
              </a:lnSpc>
              <a:buSzPct val="100000"/>
              <a:buChar char="✓"/>
            </a:pPr>
            <a:r>
              <a:rPr lang="en-US" sz="12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Production-grade Paystack payment integration</a:t>
            </a:r>
            <a:endParaRPr lang="en-US" sz="1250" dirty="0"/>
          </a:p>
          <a:p>
            <a:pPr marL="228600" indent="-228600">
              <a:lnSpc>
                <a:spcPct val="155000"/>
              </a:lnSpc>
              <a:buSzPct val="100000"/>
              <a:buChar char="✓"/>
            </a:pPr>
            <a:r>
              <a:rPr lang="en-US" sz="12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Skeleton loading, infinite scroll, toasts, animation</a:t>
            </a:r>
            <a:endParaRPr lang="en-US" sz="1250" dirty="0"/>
          </a:p>
          <a:p>
            <a:pPr marL="228600" indent="-228600">
              <a:lnSpc>
                <a:spcPct val="155000"/>
              </a:lnSpc>
              <a:buSzPct val="100000"/>
              <a:buChar char="✓"/>
            </a:pPr>
            <a:r>
              <a:rPr lang="en-US" sz="1250" dirty="0">
                <a:solidFill>
                  <a:srgbClr val="F6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Multi-tier role-based access system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86600" y="1572768"/>
            <a:ext cx="45537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70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86600" y="1956816"/>
            <a:ext cx="4553712" cy="914400"/>
          </a:xfrm>
          <a:prstGeom prst="roundRect">
            <a:avLst>
              <a:gd name="adj" fmla="val 9000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51192" y="2162556"/>
            <a:ext cx="502920" cy="50292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2" name="Image 0" descr="/home/claude/lumen/icons/b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1893" y="2283257"/>
            <a:ext cx="261518" cy="26151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09560" y="2066544"/>
            <a:ext cx="35478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 notifications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909560" y="2377440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Supabase Realtime subscriptions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086600" y="2999232"/>
            <a:ext cx="4553712" cy="914400"/>
          </a:xfrm>
          <a:prstGeom prst="roundRect">
            <a:avLst>
              <a:gd name="adj" fmla="val 9000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51192" y="3204972"/>
            <a:ext cx="502920" cy="50292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17" name="Image 1" descr="/home/claude/lumen/icons/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893" y="3325673"/>
            <a:ext cx="261518" cy="26151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09560" y="3108960"/>
            <a:ext cx="35478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Review &amp; rating system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909560" y="3419856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User-generated reviews per product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086600" y="4041648"/>
            <a:ext cx="4553712" cy="914400"/>
          </a:xfrm>
          <a:prstGeom prst="roundRect">
            <a:avLst>
              <a:gd name="adj" fmla="val 9000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251192" y="4247388"/>
            <a:ext cx="502920" cy="50292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2" name="Image 2" descr="/home/claude/lumen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893" y="4368089"/>
            <a:ext cx="261518" cy="26151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909560" y="4151376"/>
            <a:ext cx="35478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Localization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7909560" y="4462272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Multi-currency support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086600" y="5084064"/>
            <a:ext cx="4553712" cy="914400"/>
          </a:xfrm>
          <a:prstGeom prst="roundRect">
            <a:avLst>
              <a:gd name="adj" fmla="val 9000"/>
            </a:avLst>
          </a:prstGeom>
          <a:solidFill>
            <a:srgbClr val="1C1E3C"/>
          </a:solidFill>
          <a:ln w="12700">
            <a:solidFill>
              <a:srgbClr val="2B2E54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251192" y="5289804"/>
            <a:ext cx="502920" cy="502920"/>
          </a:xfrm>
          <a:prstGeom prst="ellipse">
            <a:avLst/>
          </a:prstGeom>
          <a:solidFill>
            <a:srgbClr val="1C1E3C"/>
          </a:solidFill>
          <a:ln w="15875">
            <a:solidFill>
              <a:srgbClr val="F2B705"/>
            </a:solidFill>
            <a:prstDash val="solid"/>
          </a:ln>
        </p:spPr>
      </p:sp>
      <p:pic>
        <p:nvPicPr>
          <p:cNvPr id="27" name="Image 3" descr="/home/claude/lumen/icons/smart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893" y="5410505"/>
            <a:ext cx="261518" cy="26151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909560" y="5193792"/>
            <a:ext cx="35478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PWA manifest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909560" y="5504688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D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Installable, offline-friendly app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LUMEN — MEDIA VAULT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 / 22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71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Final Project — LUMEN Media Vault  ·  22 slides  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11954</Words>
  <Application>WPS Presentation</Application>
  <PresentationFormat>On-screen Show (16:9)</PresentationFormat>
  <Paragraphs>972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8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React Final Project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LUMEN Media Vault</dc:creator>
  <dc:subject>PptxGenJS Presentation</dc:subject>
  <cp:lastModifiedBy>IJEOMA</cp:lastModifiedBy>
  <cp:revision>2</cp:revision>
  <dcterms:created xsi:type="dcterms:W3CDTF">2026-08-03T05:58:00Z</dcterms:created>
  <dcterms:modified xsi:type="dcterms:W3CDTF">2026-08-05T08:44:00Z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16B116C7B6814ACC8DC5103044B2F642_12</vt:lpwstr>
  </property>
</Properties>
</file>